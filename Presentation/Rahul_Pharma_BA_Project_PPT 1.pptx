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21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PORTFOLIO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Pharma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Tender Analytics Dashboard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25400">
            <a:solidFill>
              <a:srgbClr val="C98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Keni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Business Analyst | Sales &amp; Operations Background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212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533095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5687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0" y="5212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148" y="533095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5687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5212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388" y="533095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63440" y="5687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583680" y="5212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53309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0" y="5687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8503920" y="5212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868" y="533095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03920" y="5687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Rahul Pharma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Pharma supplies medicines to government and private hospitals through tender contracts. The business depends on winning tenders, managing inventory, delivering on time, and collecting payments from hospitals.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Challenges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295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200400"/>
            <a:ext cx="566928" cy="56692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332795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7947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tender win rate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6824" y="2880360"/>
            <a:ext cx="35295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5424" y="3200400"/>
            <a:ext cx="566928" cy="56692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983" y="33279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35424" y="37947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65008" y="2880360"/>
            <a:ext cx="35295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3608" y="3200400"/>
            <a:ext cx="566928" cy="56692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167" y="332795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93608" y="37947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medicines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35295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800600"/>
            <a:ext cx="566928" cy="56692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9" y="492815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3949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payments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306824" y="4480560"/>
            <a:ext cx="35295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35424" y="4800600"/>
            <a:ext cx="566928" cy="56692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983" y="4928159"/>
            <a:ext cx="311810" cy="3118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35424" y="53949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delays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065008" y="4480560"/>
            <a:ext cx="35295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293608" y="4800600"/>
            <a:ext cx="566928" cy="56692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167" y="4928159"/>
            <a:ext cx="311810" cy="31181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293608" y="53949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performance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This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75104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5740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90195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190195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505456"/>
            <a:ext cx="11091672" cy="512064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66090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50545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Team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17920" y="25054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management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108960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3182112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26440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0896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1089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3712464"/>
            <a:ext cx="11091672" cy="512064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785616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86791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71246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Team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17920" y="37124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4315968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685800" y="4389120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471416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431596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217920" y="43159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4919472"/>
            <a:ext cx="11091672" cy="512064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33" name="Shape 26"/>
          <p:cNvSpPr/>
          <p:nvPr/>
        </p:nvSpPr>
        <p:spPr>
          <a:xfrm>
            <a:off x="685800" y="4992624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507492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88720" y="491947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Team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217920" y="49194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management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0"/>
          <p:cNvSpPr/>
          <p:nvPr/>
        </p:nvSpPr>
        <p:spPr>
          <a:xfrm>
            <a:off x="685800" y="5596128"/>
            <a:ext cx="365760" cy="36576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678424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188720" y="552297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217920" y="55229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 monitoring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Business Requirements Document (BRD)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and Their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was spread across multiple Excel files, with no single view of performance. This made decision-making slow and difficult for management.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980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6791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rejection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09360" y="26791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282696"/>
            <a:ext cx="11091672" cy="512064"/>
          </a:xfrm>
          <a:prstGeom prst="rect">
            <a:avLst/>
          </a:prstGeom>
          <a:solidFill>
            <a:srgbClr val="E8F1F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015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328269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309360" y="328269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dissatisfaction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050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8862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expiry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09360" y="388620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loss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4489704"/>
            <a:ext cx="11091672" cy="512064"/>
          </a:xfrm>
          <a:prstGeom prst="rect">
            <a:avLst/>
          </a:prstGeom>
          <a:solidFill>
            <a:srgbClr val="E8F1F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0857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448970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payments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309360" y="448970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issues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48640" y="5093208"/>
            <a:ext cx="11091672" cy="51206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120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509320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issues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309360" y="509320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48640" y="5696712"/>
            <a:ext cx="11091672" cy="512064"/>
          </a:xfrm>
          <a:prstGeom prst="rect">
            <a:avLst/>
          </a:prstGeom>
          <a:solidFill>
            <a:srgbClr val="E8F1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15584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34440" y="569671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issues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569671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business risk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48640" y="63459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Business Requirements Document (BRD)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0231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50876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tender success rate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20231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50876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profitability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35204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371475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320040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delayed deliveries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63640" y="3200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17" name="Shape 12"/>
          <p:cNvSpPr/>
          <p:nvPr/>
        </p:nvSpPr>
        <p:spPr>
          <a:xfrm>
            <a:off x="6537960" y="35204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270" y="371475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320040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medicine expiry risk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21" name="Shape 15"/>
          <p:cNvSpPr/>
          <p:nvPr/>
        </p:nvSpPr>
        <p:spPr>
          <a:xfrm>
            <a:off x="822960" y="52120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" y="540639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489204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payment collection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263640" y="48920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25" name="Shape 18"/>
          <p:cNvSpPr/>
          <p:nvPr/>
        </p:nvSpPr>
        <p:spPr>
          <a:xfrm>
            <a:off x="6537960" y="52120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2270" y="5406390"/>
            <a:ext cx="388620" cy="3886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489204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supplier performance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Business Analysist 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18488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33629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38144" y="155448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6552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4416552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75304" y="24688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Preparation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2336292"/>
            <a:ext cx="219456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36208" y="155448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4616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2"/>
          <p:cNvSpPr/>
          <p:nvPr/>
        </p:nvSpPr>
        <p:spPr>
          <a:xfrm>
            <a:off x="7214616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373368" y="24688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Creation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3362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34272" y="155448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2680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6"/>
          <p:cNvSpPr/>
          <p:nvPr/>
        </p:nvSpPr>
        <p:spPr>
          <a:xfrm>
            <a:off x="10012680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9171432" y="24688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Acceptance Criteria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379476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18488" y="402336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0"/>
          <p:cNvSpPr/>
          <p:nvPr/>
        </p:nvSpPr>
        <p:spPr>
          <a:xfrm>
            <a:off x="1618488" y="4023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77240" y="47091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(ER Diagram)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6572"/>
            <a:ext cx="219456" cy="21945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438144" y="379476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16552" y="402336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4"/>
          <p:cNvSpPr/>
          <p:nvPr/>
        </p:nvSpPr>
        <p:spPr>
          <a:xfrm>
            <a:off x="4416552" y="4023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3575304" y="47091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4576572"/>
            <a:ext cx="219456" cy="219456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236208" y="379476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214616" y="402336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28"/>
          <p:cNvSpPr/>
          <p:nvPr/>
        </p:nvSpPr>
        <p:spPr>
          <a:xfrm>
            <a:off x="7214616" y="4023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6373368" y="47091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4576572"/>
            <a:ext cx="219456" cy="219456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034272" y="379476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E8F1F5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012680" y="402336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2"/>
          <p:cNvSpPr/>
          <p:nvPr/>
        </p:nvSpPr>
        <p:spPr>
          <a:xfrm>
            <a:off x="10012680" y="4023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1" name="Text 33"/>
          <p:cNvSpPr/>
          <p:nvPr/>
        </p:nvSpPr>
        <p:spPr>
          <a:xfrm>
            <a:off x="9171432" y="470916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interviewers how I think and work as a Business Analyst start to finish.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Created for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68780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 (BRD)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668780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17716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508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Document (FRD)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487168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2647188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275005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4871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487168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46520" y="2647188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2750058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24871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46557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31520" y="3625596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728466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46557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(Data Model)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263640" y="346557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46520" y="3625596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3728466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46557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444398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31520" y="4604004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4706874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444398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263640" y="444398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446520" y="4604004"/>
            <a:ext cx="457200" cy="45720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4706874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86600" y="444398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50992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28016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full set of deliverables shows end-to-end BA work — from gathering requirements to building the final dashboard.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: How the Data is Connects 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1719072"/>
            <a:ext cx="2286000" cy="0"/>
          </a:xfrm>
          <a:prstGeom prst="rect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4081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Tender_Master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633472"/>
            <a:ext cx="2743200" cy="0"/>
          </a:xfrm>
          <a:prstGeom prst="rect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Sales_Fact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670048"/>
            <a:ext cx="2468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959352"/>
            <a:ext cx="2788920" cy="0"/>
          </a:xfrm>
          <a:prstGeom prst="rect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6484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Payment_Tracking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43800" y="3995928"/>
            <a:ext cx="2514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Payment_ID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FK: Invoice_ID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5148072"/>
            <a:ext cx="2788920" cy="0"/>
          </a:xfrm>
          <a:prstGeom prst="rect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837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Supplier_Master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06040" y="518464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Supplier_ID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F1F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Tender_Master holds tender details. Sales_Fact links each invoice to its tender and medicine, and feeds Medicine_Inventory and Payment_Tracking. Supplier_Master connects through Medicine_Inventory to track supplier-linked stock.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54ED1E3-987C-7993-B810-294B5DA0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12" y="1260764"/>
            <a:ext cx="6514962" cy="4216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&amp; Tender Performance</a:t>
            </a:r>
            <a:endParaRPr lang="en-US" sz="3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48640" y="2907792"/>
          <a:ext cx="54864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6263640" y="2907792"/>
          <a:ext cx="53949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1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8F69E9A-A14B-A247-B2D3-2502AE66E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07" y="1188112"/>
            <a:ext cx="12158293" cy="56698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PAGE 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2648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8" name="Text 20"/>
          <p:cNvSpPr/>
          <p:nvPr/>
        </p:nvSpPr>
        <p:spPr>
          <a:xfrm>
            <a:off x="822960" y="598932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1,671 delayed deliveries (92.8%) — Maharashtra has the highest delays, Karnataka the lowest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and Tablet medicines carry the highest expiry risk — inventory optimization is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monitoring delivery performance quarterly to catch delays early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3544A96-58C5-27B0-A386-686D5E5A3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34291"/>
            <a:ext cx="11000232" cy="58951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PAGE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Dashboard</a:t>
            </a:r>
            <a:endParaRPr lang="en-US" sz="3000" dirty="0"/>
          </a:p>
        </p:txBody>
      </p:sp>
      <p:sp>
        <p:nvSpPr>
          <p:cNvPr id="27" name="Text 19"/>
          <p:cNvSpPr/>
          <p:nvPr/>
        </p:nvSpPr>
        <p:spPr>
          <a:xfrm>
            <a:off x="822960" y="598932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₹30.27 Cr in outstanding receivables; ESIC Hospital has the highest outstanding amount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receivable age is 281 days — collection risk is increasing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receivable age raises working capital risk — prioritize collection from top hospitals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E7BABE4-08CF-EEAE-C73B-2A9755455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88" y="1193622"/>
            <a:ext cx="10346152" cy="5097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Data into Business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8191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Win Ratio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947672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84248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tender_status,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total_tenders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tender_master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tender_status;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309981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of 200 tenders won — overall win ratio of 71.5%.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48272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0" y="1947672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0B2545"/>
          </a:solidFill>
          <a:ln/>
        </p:spPr>
      </p:sp>
      <p:sp>
        <p:nvSpPr>
          <p:cNvPr id="14" name="Text 10"/>
          <p:cNvSpPr/>
          <p:nvPr/>
        </p:nvSpPr>
        <p:spPr>
          <a:xfrm>
            <a:off x="6510528" y="1984248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tm.Region,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SUM(sf.Sales_Amount)/1000 AS Revenue_K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tender_master tm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sales_fact sf ON sf.Tender_ID=tm.Tender_ID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tm.Region;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400800" y="309981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generates the highest revenue; Karnataka the lowest.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767327"/>
            <a:ext cx="5486400" cy="242565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39044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Average Delivery Delay by State</a:t>
            </a:r>
          </a:p>
        </p:txBody>
      </p:sp>
      <p:sp>
        <p:nvSpPr>
          <p:cNvPr id="19" name="Shape 14"/>
          <p:cNvSpPr/>
          <p:nvPr/>
        </p:nvSpPr>
        <p:spPr>
          <a:xfrm>
            <a:off x="731520" y="4297680"/>
            <a:ext cx="5074920" cy="1362457"/>
          </a:xfrm>
          <a:prstGeom prst="roundRect">
            <a:avLst>
              <a:gd name="adj" fmla="val 423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5"/>
          <p:cNvSpPr/>
          <p:nvPr/>
        </p:nvSpPr>
        <p:spPr>
          <a:xfrm>
            <a:off x="841248" y="4334256"/>
            <a:ext cx="4855464" cy="1298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b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tm.Region</a:t>
            </a: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ROUND(AVG(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dt.Delay_Days</a:t>
            </a: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),2) AS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Avg_Delay_Days</a:t>
            </a:r>
            <a:endParaRPr lang="en-US" sz="950" dirty="0">
              <a:solidFill>
                <a:srgbClr val="B7E3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delivery_tracking</a:t>
            </a: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dt</a:t>
            </a:r>
          </a:p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tender_master</a:t>
            </a: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tm</a:t>
            </a:r>
          </a:p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dt.Tender_ID</a:t>
            </a: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tm.Tender_ID</a:t>
            </a:r>
            <a:endParaRPr lang="en-US" sz="950" dirty="0">
              <a:solidFill>
                <a:srgbClr val="B7E3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tm.Region</a:t>
            </a:r>
            <a:endParaRPr lang="en-US" sz="950" dirty="0">
              <a:solidFill>
                <a:srgbClr val="B7E3D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05000"/>
              </a:lnSpc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950" dirty="0" err="1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Avg_Delay_Days</a:t>
            </a: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31520" y="5733290"/>
            <a:ext cx="5074920" cy="384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delay by 6 days .Highest numbers  of delay of deliveries is </a:t>
            </a:r>
            <a:r>
              <a:rPr lang="en-US" sz="1100" i="1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Maharashtra 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3767328"/>
            <a:ext cx="5440680" cy="2425654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48272" y="39044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Payments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0" y="4297680"/>
            <a:ext cx="5056632" cy="1335023"/>
          </a:xfrm>
          <a:prstGeom prst="roundRect">
            <a:avLst>
              <a:gd name="adj" fmla="val 4237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6510528" y="4334256"/>
            <a:ext cx="4855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Hospital_Name,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SUM(Due_Amount) AS Pending_Amt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payment_tracking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Payment_Status='Pending'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Hospital_Name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Pending_Amt DESC;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400800" y="57058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ESIC Hospital carries the largest pending payment balance.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9584" cy="420624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9584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2958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5819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410" y="1725930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42316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2980944" cy="2116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bidding strategy for Emergency tenders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Delhi's approach to lift Maharashtra's win ratio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 present  a wining ratio while developing strategy for other states   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06824" y="1417320"/>
            <a:ext cx="3529584" cy="420624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12" name="Shape 9"/>
          <p:cNvSpPr/>
          <p:nvPr/>
        </p:nvSpPr>
        <p:spPr>
          <a:xfrm>
            <a:off x="4306824" y="1417320"/>
            <a:ext cx="3529584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4306824" y="1874520"/>
            <a:ext cx="3529584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5751576" y="15819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594" y="1725930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06824" y="242316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81144" y="2926080"/>
            <a:ext cx="29809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logistics in Maharashtra</a:t>
            </a:r>
            <a:endParaRPr lang="en-US" sz="1350" dirty="0"/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delayed deliveries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 tracking system and fixed a responsibility of On time delivery with concern person.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stock rotation for medicines nearing expiry.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endParaRPr lang="en-US" sz="13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065008" y="1417320"/>
            <a:ext cx="3529584" cy="420624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15"/>
          <p:cNvSpPr/>
          <p:nvPr/>
        </p:nvSpPr>
        <p:spPr>
          <a:xfrm>
            <a:off x="8065008" y="1417320"/>
            <a:ext cx="3529584" cy="914400"/>
          </a:xfrm>
          <a:prstGeom prst="roundRect">
            <a:avLst>
              <a:gd name="adj" fmla="val 10000"/>
            </a:avLst>
          </a:prstGeom>
          <a:solidFill>
            <a:srgbClr val="C98A2B"/>
          </a:solidFill>
          <a:ln/>
        </p:spPr>
      </p:sp>
      <p:sp>
        <p:nvSpPr>
          <p:cNvPr id="20" name="Shape 16"/>
          <p:cNvSpPr/>
          <p:nvPr/>
        </p:nvSpPr>
        <p:spPr>
          <a:xfrm>
            <a:off x="8065008" y="1874520"/>
            <a:ext cx="3529584" cy="457200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21" name="Shape 17"/>
          <p:cNvSpPr/>
          <p:nvPr/>
        </p:nvSpPr>
        <p:spPr>
          <a:xfrm>
            <a:off x="9509760" y="15819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3778" y="1725930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65008" y="242316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39328" y="2926080"/>
            <a:ext cx="2980944" cy="199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collection from top hospitals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receivable ageing tracking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/>
              <a:t>Create collection targets for finance teams.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/>
              <a:t>Prioritize collection efforts for high-value hospitals.</a:t>
            </a:r>
          </a:p>
        </p:txBody>
      </p:sp>
      <p:sp>
        <p:nvSpPr>
          <p:cNvPr id="25" name="Text 20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 the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B3261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92808"/>
            <a:ext cx="5029200" cy="393192"/>
          </a:xfrm>
          <a:prstGeom prst="rect">
            <a:avLst/>
          </a:prstGeom>
          <a:solidFill>
            <a:srgbClr val="B3261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099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08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Dashboard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multiple Excel files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decision-making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monitoring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1112" y="150876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E8F1F5"/>
          </a:solidFill>
          <a:ln/>
        </p:spPr>
      </p:sp>
      <p:sp>
        <p:nvSpPr>
          <p:cNvPr id="11" name="Shape 8"/>
          <p:cNvSpPr/>
          <p:nvPr/>
        </p:nvSpPr>
        <p:spPr>
          <a:xfrm>
            <a:off x="6611112" y="150876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B8A5A"/>
          </a:solidFill>
          <a:ln/>
        </p:spPr>
      </p:sp>
      <p:sp>
        <p:nvSpPr>
          <p:cNvPr id="12" name="Shape 9"/>
          <p:cNvSpPr/>
          <p:nvPr/>
        </p:nvSpPr>
        <p:spPr>
          <a:xfrm>
            <a:off x="6611112" y="1892808"/>
            <a:ext cx="5029200" cy="393192"/>
          </a:xfrm>
          <a:prstGeom prst="rect">
            <a:avLst/>
          </a:prstGeom>
          <a:solidFill>
            <a:srgbClr val="1B8A5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7099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88352" y="1508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Dashboard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976872" y="256032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of tender performance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&amp; payment monitoring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728716" y="320040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3383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matches the BRD objective: a centralized reporting solution for tender, inventory, supplier, logistics, payment, and compliance activities.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4732" y="2743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12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tender decisions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843784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6724" y="2743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2926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payment collection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065776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28716" y="2743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2926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02936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stock shortages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287768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950708" y="2743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588" y="29260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4928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expiry losses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509760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172700" y="2743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5580" y="29260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46920" y="36576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profitability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LEARNINGS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Applied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2628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20665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80260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46604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908" y="20665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71700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707892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74236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06654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9332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335524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801868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172" y="206654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26964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63156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29500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804" y="2066544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54596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590788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057132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2066544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82228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10218420" y="1691640"/>
            <a:ext cx="1517904" cy="1783080"/>
          </a:xfrm>
          <a:prstGeom prst="roundRect">
            <a:avLst>
              <a:gd name="adj" fmla="val 60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8A2B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684764" y="1920240"/>
            <a:ext cx="585216" cy="585216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1068" y="2066544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309860" y="260604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114800" y="4160520"/>
            <a:ext cx="3931920" cy="0"/>
          </a:xfrm>
          <a:prstGeom prst="line">
            <a:avLst/>
          </a:prstGeom>
          <a:noFill/>
          <a:ln w="12700">
            <a:solidFill>
              <a:srgbClr val="C98A2B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Pratik Keni</a:t>
            </a:r>
            <a:endParaRPr lang="en-US" sz="2400" dirty="0"/>
          </a:p>
        </p:txBody>
      </p:sp>
      <p:sp>
        <p:nvSpPr>
          <p:cNvPr id="35" name="Text 26"/>
          <p:cNvSpPr/>
          <p:nvPr/>
        </p:nvSpPr>
        <p:spPr>
          <a:xfrm>
            <a:off x="0" y="4892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Business Analyst  |  Sales &amp; Operations Background  |  Mumbai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7" name="Text 28"/>
          <p:cNvSpPr/>
          <p:nvPr/>
        </p:nvSpPr>
        <p:spPr>
          <a:xfrm>
            <a:off x="11548872" y="320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981</Words>
  <Application>Microsoft Office PowerPoint</Application>
  <PresentationFormat>Widescreen</PresentationFormat>
  <Paragraphs>228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Rahul Pharma - Government Tender Analytics Dashboard</dc:title>
  <dc:subject>PptxGenJS Presentation</dc:subject>
  <dc:creator>Pratik Keni</dc:creator>
  <cp:lastModifiedBy>Pratik Keni</cp:lastModifiedBy>
  <cp:revision>3</cp:revision>
  <dcterms:created xsi:type="dcterms:W3CDTF">2026-06-20T03:57:49Z</dcterms:created>
  <dcterms:modified xsi:type="dcterms:W3CDTF">2026-06-20T18:13:37Z</dcterms:modified>
</cp:coreProperties>
</file>