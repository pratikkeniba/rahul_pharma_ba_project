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3" r:id="rId13"/>
    <p:sldId id="267" r:id="rId14"/>
    <p:sldId id="268" r:id="rId15"/>
    <p:sldId id="269" r:id="rId16"/>
    <p:sldId id="270" r:id="rId17"/>
    <p:sldId id="274" r:id="rId18"/>
    <p:sldId id="271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8" autoAdjust="0"/>
    <p:restoredTop sz="93969" autoAdjust="0"/>
  </p:normalViewPr>
  <p:slideViewPr>
    <p:cSldViewPr snapToGrid="0" snapToObjects="1">
      <p:cViewPr varScale="1">
        <p:scale>
          <a:sx n="64" d="100"/>
          <a:sy n="64" d="100"/>
        </p:scale>
        <p:origin x="234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962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B6B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62157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E72AC-262A-DA33-B3C3-CD1DE6469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B30EF0-37C2-0638-A315-809EC32C1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3B6F8-F3B5-45F7-5931-D1BCE8360F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694990-7F80-8965-9CA9-C6B50F01E5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9424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6D724-CEE3-D1C2-26BD-4F7986F1A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5251FF-8DCC-F203-7D21-D6D748A603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7BF86D-C169-6F60-9E96-69F41BB20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FBB6F-3205-0C3E-5307-0D2C59C755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75197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3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chart" Target="../charts/char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svg"/><Relationship Id="rId3" Type="http://schemas.openxmlformats.org/officeDocument/2006/relationships/image" Target="../media/image24.png"/><Relationship Id="rId7" Type="http://schemas.openxmlformats.org/officeDocument/2006/relationships/image" Target="../media/image33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svg"/><Relationship Id="rId5" Type="http://schemas.openxmlformats.org/officeDocument/2006/relationships/image" Target="../media/image31.svg"/><Relationship Id="rId4" Type="http://schemas.openxmlformats.org/officeDocument/2006/relationships/image" Target="../media/image30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Relationship Id="rId9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486400" cy="5486400"/>
          </a:xfrm>
          <a:prstGeom prst="ellipse">
            <a:avLst/>
          </a:prstGeom>
          <a:solidFill>
            <a:srgbClr val="065A82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4572000" cy="4572000"/>
          </a:xfrm>
          <a:prstGeom prst="ellipse">
            <a:avLst/>
          </a:prstGeom>
          <a:solidFill>
            <a:srgbClr val="1C7293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ANALYST PORTFOLIO PROJECT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Rahul Pharma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22960" y="28803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E8F1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Government Tender Analytics Dashboard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2011680" cy="0"/>
          </a:xfrm>
          <a:prstGeom prst="line">
            <a:avLst/>
          </a:prstGeom>
          <a:noFill/>
          <a:ln w="25400">
            <a:solidFill>
              <a:srgbClr val="C98A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886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Pratik Keni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251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Aspiring Business Analyst | Sales &amp; Operations Background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521208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9908" y="5330952"/>
            <a:ext cx="329184" cy="32918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22960" y="568756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743200" y="521208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0148" y="5330952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743200" y="568756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663440" y="521208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0388" y="5330952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663440" y="568756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583680" y="521208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0628" y="5330952"/>
            <a:ext cx="329184" cy="32918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583680" y="568756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8503920" y="521208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0868" y="5330952"/>
            <a:ext cx="329184" cy="32918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503920" y="568756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Draw.io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BACKGROUND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Rahul Pharma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E8F1F5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32588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Rahul Pharma supplies medicines to government and private hospitals through tender contracts. The business depends on winning tenders, managing inventory, delivering on time, and collecting payments from hospitals.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423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Challenges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880360"/>
            <a:ext cx="352958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3200400"/>
            <a:ext cx="566928" cy="566928"/>
          </a:xfrm>
          <a:prstGeom prst="ellipse">
            <a:avLst/>
          </a:prstGeom>
          <a:solidFill>
            <a:srgbClr val="FBE9E7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799" y="3327959"/>
            <a:ext cx="311810" cy="31181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77240" y="3794760"/>
            <a:ext cx="3072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tender win rate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06824" y="2880360"/>
            <a:ext cx="352958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35424" y="3200400"/>
            <a:ext cx="566928" cy="566928"/>
          </a:xfrm>
          <a:prstGeom prst="ellipse">
            <a:avLst/>
          </a:prstGeom>
          <a:solidFill>
            <a:srgbClr val="FBE9E7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983" y="3327959"/>
            <a:ext cx="311810" cy="31181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35424" y="3794760"/>
            <a:ext cx="3072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deliveries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065008" y="2880360"/>
            <a:ext cx="352958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3608" y="3200400"/>
            <a:ext cx="566928" cy="566928"/>
          </a:xfrm>
          <a:prstGeom prst="ellipse">
            <a:avLst/>
          </a:prstGeom>
          <a:solidFill>
            <a:srgbClr val="FBE9E7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1167" y="3327959"/>
            <a:ext cx="311810" cy="31181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293608" y="3794760"/>
            <a:ext cx="3072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Expired medicines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4480560"/>
            <a:ext cx="352958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4800600"/>
            <a:ext cx="566928" cy="566928"/>
          </a:xfrm>
          <a:prstGeom prst="ellipse">
            <a:avLst/>
          </a:prstGeom>
          <a:solidFill>
            <a:srgbClr val="FBE9E7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799" y="4928159"/>
            <a:ext cx="311810" cy="31181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77240" y="5394960"/>
            <a:ext cx="3072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 payments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4306824" y="4480560"/>
            <a:ext cx="352958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535424" y="4800600"/>
            <a:ext cx="566928" cy="566928"/>
          </a:xfrm>
          <a:prstGeom prst="ellipse">
            <a:avLst/>
          </a:prstGeom>
          <a:solidFill>
            <a:srgbClr val="FBE9E7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2983" y="4928159"/>
            <a:ext cx="311810" cy="31181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535424" y="5394960"/>
            <a:ext cx="3072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delays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8065008" y="4480560"/>
            <a:ext cx="352958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8293608" y="4800600"/>
            <a:ext cx="566928" cy="566928"/>
          </a:xfrm>
          <a:prstGeom prst="ellipse">
            <a:avLst/>
          </a:prstGeom>
          <a:solidFill>
            <a:srgbClr val="FBE9E7"/>
          </a:solidFill>
          <a:ln/>
        </p:spPr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1167" y="4928159"/>
            <a:ext cx="311810" cy="31181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8293608" y="5394960"/>
            <a:ext cx="3072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visibility into performance</a:t>
            </a:r>
            <a:endParaRPr lang="en-US" sz="1300" dirty="0"/>
          </a:p>
        </p:txBody>
      </p:sp>
      <p:sp>
        <p:nvSpPr>
          <p:cNvPr id="31" name="Text 23"/>
          <p:cNvSpPr/>
          <p:nvPr/>
        </p:nvSpPr>
        <p:spPr>
          <a:xfrm>
            <a:off x="11548872" y="3200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Uses This Dashboard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1672" cy="4572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13716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17920" y="1371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01952"/>
            <a:ext cx="11091672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975104"/>
            <a:ext cx="365760" cy="365760"/>
          </a:xfrm>
          <a:prstGeom prst="ellipse">
            <a:avLst/>
          </a:prstGeom>
          <a:solidFill>
            <a:srgbClr val="DCEAF1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2057400"/>
            <a:ext cx="201168" cy="20116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88720" y="1901952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Director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217920" y="190195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decisions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2505456"/>
            <a:ext cx="11091672" cy="512064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13" name="Shape 10"/>
          <p:cNvSpPr/>
          <p:nvPr/>
        </p:nvSpPr>
        <p:spPr>
          <a:xfrm>
            <a:off x="685800" y="2578608"/>
            <a:ext cx="365760" cy="365760"/>
          </a:xfrm>
          <a:prstGeom prst="ellipse">
            <a:avLst/>
          </a:prstGeom>
          <a:solidFill>
            <a:srgbClr val="DCEAF1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" y="2660904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88720" y="2505456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Tender Team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6217920" y="250545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Tender management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48640" y="3108960"/>
            <a:ext cx="11091672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4"/>
          <p:cNvSpPr/>
          <p:nvPr/>
        </p:nvSpPr>
        <p:spPr>
          <a:xfrm>
            <a:off x="685800" y="3182112"/>
            <a:ext cx="365760" cy="365760"/>
          </a:xfrm>
          <a:prstGeom prst="ellipse">
            <a:avLst/>
          </a:prstGeom>
          <a:solidFill>
            <a:srgbClr val="DCEAF1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3264408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88720" y="3108960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Team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217920" y="310896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tracking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548640" y="3712464"/>
            <a:ext cx="11091672" cy="512064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23" name="Shape 18"/>
          <p:cNvSpPr/>
          <p:nvPr/>
        </p:nvSpPr>
        <p:spPr>
          <a:xfrm>
            <a:off x="685800" y="3785616"/>
            <a:ext cx="365760" cy="365760"/>
          </a:xfrm>
          <a:prstGeom prst="ellipse">
            <a:avLst/>
          </a:prstGeom>
          <a:solidFill>
            <a:srgbClr val="DCEAF1"/>
          </a:solidFill>
          <a:ln/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" y="3867912"/>
            <a:ext cx="201168" cy="20116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188720" y="3712464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Team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6217920" y="371246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management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548640" y="4315968"/>
            <a:ext cx="11091672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Shape 22"/>
          <p:cNvSpPr/>
          <p:nvPr/>
        </p:nvSpPr>
        <p:spPr>
          <a:xfrm>
            <a:off x="685800" y="4389120"/>
            <a:ext cx="365760" cy="365760"/>
          </a:xfrm>
          <a:prstGeom prst="ellipse">
            <a:avLst/>
          </a:prstGeom>
          <a:solidFill>
            <a:srgbClr val="DCEAF1"/>
          </a:solidFill>
          <a:ln/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096" y="4471416"/>
            <a:ext cx="201168" cy="20116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188720" y="431596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Team</a:t>
            </a:r>
            <a:endParaRPr lang="en-US" sz="1300" dirty="0"/>
          </a:p>
        </p:txBody>
      </p:sp>
      <p:sp>
        <p:nvSpPr>
          <p:cNvPr id="31" name="Text 24"/>
          <p:cNvSpPr/>
          <p:nvPr/>
        </p:nvSpPr>
        <p:spPr>
          <a:xfrm>
            <a:off x="6217920" y="431596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management</a:t>
            </a:r>
            <a:endParaRPr lang="en-US" sz="1300" dirty="0"/>
          </a:p>
        </p:txBody>
      </p:sp>
      <p:sp>
        <p:nvSpPr>
          <p:cNvPr id="32" name="Shape 25"/>
          <p:cNvSpPr/>
          <p:nvPr/>
        </p:nvSpPr>
        <p:spPr>
          <a:xfrm>
            <a:off x="548640" y="4919472"/>
            <a:ext cx="11091672" cy="512064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33" name="Shape 26"/>
          <p:cNvSpPr/>
          <p:nvPr/>
        </p:nvSpPr>
        <p:spPr>
          <a:xfrm>
            <a:off x="685800" y="4992624"/>
            <a:ext cx="365760" cy="365760"/>
          </a:xfrm>
          <a:prstGeom prst="ellipse">
            <a:avLst/>
          </a:prstGeom>
          <a:solidFill>
            <a:srgbClr val="DCEAF1"/>
          </a:solidFill>
          <a:ln/>
        </p:spPr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6" y="5074920"/>
            <a:ext cx="201168" cy="201168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1188720" y="4919472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Team</a:t>
            </a:r>
            <a:endParaRPr lang="en-US" sz="1300" dirty="0"/>
          </a:p>
        </p:txBody>
      </p:sp>
      <p:sp>
        <p:nvSpPr>
          <p:cNvPr id="36" name="Text 28"/>
          <p:cNvSpPr/>
          <p:nvPr/>
        </p:nvSpPr>
        <p:spPr>
          <a:xfrm>
            <a:off x="6217920" y="491947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management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548640" y="5522976"/>
            <a:ext cx="11091672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Shape 30"/>
          <p:cNvSpPr/>
          <p:nvPr/>
        </p:nvSpPr>
        <p:spPr>
          <a:xfrm>
            <a:off x="685800" y="5596128"/>
            <a:ext cx="365760" cy="365760"/>
          </a:xfrm>
          <a:prstGeom prst="ellipse">
            <a:avLst/>
          </a:prstGeom>
          <a:solidFill>
            <a:srgbClr val="DCEAF1"/>
          </a:solidFill>
          <a:ln/>
        </p:spPr>
      </p:sp>
      <p:pic>
        <p:nvPicPr>
          <p:cNvPr id="3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" y="5678424"/>
            <a:ext cx="201168" cy="201168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1188720" y="5522976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Team</a:t>
            </a:r>
            <a:endParaRPr lang="en-US" sz="1300" dirty="0"/>
          </a:p>
        </p:txBody>
      </p:sp>
      <p:sp>
        <p:nvSpPr>
          <p:cNvPr id="41" name="Text 32"/>
          <p:cNvSpPr/>
          <p:nvPr/>
        </p:nvSpPr>
        <p:spPr>
          <a:xfrm>
            <a:off x="6217920" y="552297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compliance monitoring</a:t>
            </a:r>
            <a:endParaRPr lang="en-US" sz="1300" dirty="0"/>
          </a:p>
        </p:txBody>
      </p:sp>
      <p:sp>
        <p:nvSpPr>
          <p:cNvPr id="42" name="Text 33"/>
          <p:cNvSpPr/>
          <p:nvPr/>
        </p:nvSpPr>
        <p:spPr>
          <a:xfrm>
            <a:off x="548640" y="62179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Business Requirements Document (BRD)</a:t>
            </a:r>
            <a:endParaRPr lang="en-US" sz="1050" dirty="0"/>
          </a:p>
        </p:txBody>
      </p:sp>
      <p:sp>
        <p:nvSpPr>
          <p:cNvPr id="43" name="Text 34"/>
          <p:cNvSpPr/>
          <p:nvPr/>
        </p:nvSpPr>
        <p:spPr>
          <a:xfrm>
            <a:off x="11548872" y="3200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PROBLEMS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Problems and Their Business Impact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1064240" cy="594360"/>
          </a:xfrm>
          <a:prstGeom prst="roundRect">
            <a:avLst>
              <a:gd name="adj" fmla="val 12308"/>
            </a:avLst>
          </a:prstGeom>
          <a:solidFill>
            <a:srgbClr val="E8F1F5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258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data was spread across multiple Excel files, with no single view of performance. This made decision-making slow and difficult for management.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11091672" cy="4572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1488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Problem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21488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679192"/>
            <a:ext cx="11091672" cy="512064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98064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34440" y="267919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Tender rejection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309360" y="2679192"/>
            <a:ext cx="5120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loss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48640" y="3282696"/>
            <a:ext cx="11091672" cy="512064"/>
          </a:xfrm>
          <a:prstGeom prst="rect">
            <a:avLst/>
          </a:prstGeom>
          <a:solidFill>
            <a:srgbClr val="E8F1F5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401568"/>
            <a:ext cx="274320" cy="2743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234440" y="3282696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delays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6309360" y="3282696"/>
            <a:ext cx="5120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dissatisfaction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48640" y="3886200"/>
            <a:ext cx="11091672" cy="512064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05072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34440" y="3886200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Medicine expiry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309360" y="3886200"/>
            <a:ext cx="5120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loss</a:t>
            </a:r>
            <a:endParaRPr lang="en-US" sz="1350" dirty="0"/>
          </a:p>
        </p:txBody>
      </p:sp>
      <p:sp>
        <p:nvSpPr>
          <p:cNvPr id="21" name="Shape 16"/>
          <p:cNvSpPr/>
          <p:nvPr/>
        </p:nvSpPr>
        <p:spPr>
          <a:xfrm>
            <a:off x="548640" y="4489704"/>
            <a:ext cx="11091672" cy="512064"/>
          </a:xfrm>
          <a:prstGeom prst="rect">
            <a:avLst/>
          </a:prstGeom>
          <a:solidFill>
            <a:srgbClr val="E8F1F5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608576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234440" y="4489704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payments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309360" y="4489704"/>
            <a:ext cx="5120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flow issues</a:t>
            </a:r>
            <a:endParaRPr lang="en-US" sz="1350" dirty="0"/>
          </a:p>
        </p:txBody>
      </p:sp>
      <p:sp>
        <p:nvSpPr>
          <p:cNvPr id="25" name="Shape 19"/>
          <p:cNvSpPr/>
          <p:nvPr/>
        </p:nvSpPr>
        <p:spPr>
          <a:xfrm>
            <a:off x="548640" y="5093208"/>
            <a:ext cx="11091672" cy="512064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212080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234440" y="5093208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issues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309360" y="5093208"/>
            <a:ext cx="5120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risk</a:t>
            </a:r>
            <a:endParaRPr lang="en-US" sz="1350" dirty="0"/>
          </a:p>
        </p:txBody>
      </p:sp>
      <p:sp>
        <p:nvSpPr>
          <p:cNvPr id="29" name="Shape 22"/>
          <p:cNvSpPr/>
          <p:nvPr/>
        </p:nvSpPr>
        <p:spPr>
          <a:xfrm>
            <a:off x="548640" y="5696712"/>
            <a:ext cx="11091672" cy="512064"/>
          </a:xfrm>
          <a:prstGeom prst="rect">
            <a:avLst/>
          </a:prstGeom>
          <a:solidFill>
            <a:srgbClr val="E8F1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815584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234440" y="569671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issues</a:t>
            </a:r>
            <a:endParaRPr lang="en-US" sz="1350" dirty="0"/>
          </a:p>
        </p:txBody>
      </p:sp>
      <p:sp>
        <p:nvSpPr>
          <p:cNvPr id="32" name="Text 24"/>
          <p:cNvSpPr/>
          <p:nvPr/>
        </p:nvSpPr>
        <p:spPr>
          <a:xfrm>
            <a:off x="6309360" y="5696712"/>
            <a:ext cx="5120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business risk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548640" y="6345936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Business Requirements Document (BRD)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11548872" y="3200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OBJECTIVES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Goals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E8F1F5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82880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270" y="2023110"/>
            <a:ext cx="388620" cy="3886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508760"/>
            <a:ext cx="3886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tender success rate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263640" y="1508760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E8F1F5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182880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2270" y="2023110"/>
            <a:ext cx="388620" cy="3886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98080" y="1508760"/>
            <a:ext cx="3886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profitability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3200400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E8F1F5"/>
          </a:solidFill>
          <a:ln/>
        </p:spPr>
      </p:sp>
      <p:sp>
        <p:nvSpPr>
          <p:cNvPr id="13" name="Shape 9"/>
          <p:cNvSpPr/>
          <p:nvPr/>
        </p:nvSpPr>
        <p:spPr>
          <a:xfrm>
            <a:off x="822960" y="352044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7270" y="3714750"/>
            <a:ext cx="388620" cy="3886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783080" y="3200400"/>
            <a:ext cx="3886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delayed deliveries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6263640" y="3200400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E8F1F5"/>
          </a:solidFill>
          <a:ln/>
        </p:spPr>
      </p:sp>
      <p:sp>
        <p:nvSpPr>
          <p:cNvPr id="17" name="Shape 12"/>
          <p:cNvSpPr/>
          <p:nvPr/>
        </p:nvSpPr>
        <p:spPr>
          <a:xfrm>
            <a:off x="6537960" y="352044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2270" y="3714750"/>
            <a:ext cx="388620" cy="3886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498080" y="3200400"/>
            <a:ext cx="3886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medicine expiry risk</a:t>
            </a:r>
            <a:endParaRPr lang="en-US" sz="1600" dirty="0"/>
          </a:p>
        </p:txBody>
      </p:sp>
      <p:sp>
        <p:nvSpPr>
          <p:cNvPr id="20" name="Shape 14"/>
          <p:cNvSpPr/>
          <p:nvPr/>
        </p:nvSpPr>
        <p:spPr>
          <a:xfrm>
            <a:off x="548640" y="4892040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E8F1F5"/>
          </a:solidFill>
          <a:ln/>
        </p:spPr>
      </p:sp>
      <p:sp>
        <p:nvSpPr>
          <p:cNvPr id="21" name="Shape 15"/>
          <p:cNvSpPr/>
          <p:nvPr/>
        </p:nvSpPr>
        <p:spPr>
          <a:xfrm>
            <a:off x="822960" y="521208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7270" y="5406390"/>
            <a:ext cx="388620" cy="3886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783080" y="4892040"/>
            <a:ext cx="3886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payment collection</a:t>
            </a:r>
            <a:endParaRPr lang="en-US" sz="1600" dirty="0"/>
          </a:p>
        </p:txBody>
      </p:sp>
      <p:sp>
        <p:nvSpPr>
          <p:cNvPr id="24" name="Shape 17"/>
          <p:cNvSpPr/>
          <p:nvPr/>
        </p:nvSpPr>
        <p:spPr>
          <a:xfrm>
            <a:off x="6263640" y="4892040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E8F1F5"/>
          </a:solidFill>
          <a:ln/>
        </p:spPr>
      </p:sp>
      <p:sp>
        <p:nvSpPr>
          <p:cNvPr id="25" name="Shape 18"/>
          <p:cNvSpPr/>
          <p:nvPr/>
        </p:nvSpPr>
        <p:spPr>
          <a:xfrm>
            <a:off x="6537960" y="521208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2270" y="5406390"/>
            <a:ext cx="388620" cy="38862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7498080" y="4892040"/>
            <a:ext cx="3886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supplier performance</a:t>
            </a:r>
            <a:endParaRPr lang="en-US" sz="1600" dirty="0"/>
          </a:p>
        </p:txBody>
      </p:sp>
      <p:sp>
        <p:nvSpPr>
          <p:cNvPr id="28" name="Text 20"/>
          <p:cNvSpPr/>
          <p:nvPr/>
        </p:nvSpPr>
        <p:spPr>
          <a:xfrm>
            <a:off x="11548872" y="3200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Analysis 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 Business Analyst Approach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542032" cy="1783080"/>
          </a:xfrm>
          <a:prstGeom prst="roundRect">
            <a:avLst>
              <a:gd name="adj" fmla="val 5128"/>
            </a:avLst>
          </a:prstGeom>
          <a:solidFill>
            <a:srgbClr val="E8F1F5"/>
          </a:solidFill>
          <a:ln/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18488" y="1783080"/>
            <a:ext cx="585216" cy="58521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618488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2267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Gathering</a:t>
            </a:r>
            <a:endParaRPr lang="en-US" sz="13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2336292"/>
            <a:ext cx="219456" cy="21945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438144" y="1554480"/>
            <a:ext cx="2542032" cy="1783080"/>
          </a:xfrm>
          <a:prstGeom prst="roundRect">
            <a:avLst>
              <a:gd name="adj" fmla="val 5128"/>
            </a:avLst>
          </a:prstGeom>
          <a:solidFill>
            <a:srgbClr val="E8F1F5"/>
          </a:solidFill>
          <a:ln/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16552" y="1783080"/>
            <a:ext cx="585216" cy="58521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1" name="Text 8"/>
          <p:cNvSpPr/>
          <p:nvPr/>
        </p:nvSpPr>
        <p:spPr>
          <a:xfrm>
            <a:off x="4416552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3575304" y="2468880"/>
            <a:ext cx="2267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BRD Preparation</a:t>
            </a:r>
            <a:endParaRPr lang="en-US" sz="13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8464" y="2336292"/>
            <a:ext cx="219456" cy="219456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36208" y="1554480"/>
            <a:ext cx="2542032" cy="1783080"/>
          </a:xfrm>
          <a:prstGeom prst="roundRect">
            <a:avLst>
              <a:gd name="adj" fmla="val 5128"/>
            </a:avLst>
          </a:prstGeom>
          <a:solidFill>
            <a:srgbClr val="E8F1F5"/>
          </a:solidFill>
          <a:ln/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214616" y="1783080"/>
            <a:ext cx="585216" cy="58521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6" name="Text 12"/>
          <p:cNvSpPr/>
          <p:nvPr/>
        </p:nvSpPr>
        <p:spPr>
          <a:xfrm>
            <a:off x="7214616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6373368" y="2468880"/>
            <a:ext cx="2267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FRD Creation</a:t>
            </a:r>
            <a:endParaRPr lang="en-US" sz="13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28" y="2336292"/>
            <a:ext cx="219456" cy="219456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9034272" y="1554480"/>
            <a:ext cx="2542032" cy="1783080"/>
          </a:xfrm>
          <a:prstGeom prst="roundRect">
            <a:avLst>
              <a:gd name="adj" fmla="val 5128"/>
            </a:avLst>
          </a:prstGeom>
          <a:solidFill>
            <a:srgbClr val="E8F1F5"/>
          </a:solidFill>
          <a:ln/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0012680" y="1783080"/>
            <a:ext cx="585216" cy="58521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6"/>
          <p:cNvSpPr/>
          <p:nvPr/>
        </p:nvSpPr>
        <p:spPr>
          <a:xfrm>
            <a:off x="10012680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17"/>
          <p:cNvSpPr/>
          <p:nvPr/>
        </p:nvSpPr>
        <p:spPr>
          <a:xfrm>
            <a:off x="9171432" y="2468880"/>
            <a:ext cx="2267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 &amp; Acceptance Criteria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640080" y="3794760"/>
            <a:ext cx="2542032" cy="1783080"/>
          </a:xfrm>
          <a:prstGeom prst="roundRect">
            <a:avLst>
              <a:gd name="adj" fmla="val 5128"/>
            </a:avLst>
          </a:prstGeom>
          <a:solidFill>
            <a:srgbClr val="E8F1F5"/>
          </a:solidFill>
          <a:ln/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1618488" y="4023360"/>
            <a:ext cx="585216" cy="58521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5" name="Text 20"/>
          <p:cNvSpPr/>
          <p:nvPr/>
        </p:nvSpPr>
        <p:spPr>
          <a:xfrm>
            <a:off x="1618488" y="40233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1"/>
          <p:cNvSpPr/>
          <p:nvPr/>
        </p:nvSpPr>
        <p:spPr>
          <a:xfrm>
            <a:off x="777240" y="4709160"/>
            <a:ext cx="2267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Modeling (ER Diagram)</a:t>
            </a:r>
            <a:endParaRPr lang="en-US" sz="13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6572"/>
            <a:ext cx="219456" cy="219456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3438144" y="3794760"/>
            <a:ext cx="2542032" cy="1783080"/>
          </a:xfrm>
          <a:prstGeom prst="roundRect">
            <a:avLst>
              <a:gd name="adj" fmla="val 5128"/>
            </a:avLst>
          </a:prstGeom>
          <a:solidFill>
            <a:srgbClr val="E8F1F5"/>
          </a:solidFill>
          <a:ln/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416552" y="4023360"/>
            <a:ext cx="585216" cy="58521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4"/>
          <p:cNvSpPr/>
          <p:nvPr/>
        </p:nvSpPr>
        <p:spPr>
          <a:xfrm>
            <a:off x="4416552" y="40233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31" name="Text 25"/>
          <p:cNvSpPr/>
          <p:nvPr/>
        </p:nvSpPr>
        <p:spPr>
          <a:xfrm>
            <a:off x="3575304" y="4709160"/>
            <a:ext cx="2267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Analysis</a:t>
            </a:r>
            <a:endParaRPr lang="en-US" sz="1300" dirty="0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8464" y="4576572"/>
            <a:ext cx="219456" cy="219456"/>
          </a:xfrm>
          <a:prstGeom prst="rect">
            <a:avLst/>
          </a:prstGeom>
        </p:spPr>
      </p:pic>
      <p:sp>
        <p:nvSpPr>
          <p:cNvPr id="33" name="Shape 26"/>
          <p:cNvSpPr/>
          <p:nvPr/>
        </p:nvSpPr>
        <p:spPr>
          <a:xfrm>
            <a:off x="6236208" y="3794760"/>
            <a:ext cx="2542032" cy="1783080"/>
          </a:xfrm>
          <a:prstGeom prst="roundRect">
            <a:avLst>
              <a:gd name="adj" fmla="val 5128"/>
            </a:avLst>
          </a:prstGeom>
          <a:solidFill>
            <a:srgbClr val="E8F1F5"/>
          </a:solidFill>
          <a:ln/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7214616" y="4023360"/>
            <a:ext cx="585216" cy="58521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5" name="Text 28"/>
          <p:cNvSpPr/>
          <p:nvPr/>
        </p:nvSpPr>
        <p:spPr>
          <a:xfrm>
            <a:off x="7214616" y="40233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36" name="Text 29"/>
          <p:cNvSpPr/>
          <p:nvPr/>
        </p:nvSpPr>
        <p:spPr>
          <a:xfrm>
            <a:off x="6373368" y="4709160"/>
            <a:ext cx="2267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Design</a:t>
            </a:r>
            <a:endParaRPr lang="en-US" sz="1300" dirty="0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28" y="4576572"/>
            <a:ext cx="219456" cy="219456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9034272" y="3794760"/>
            <a:ext cx="2542032" cy="1783080"/>
          </a:xfrm>
          <a:prstGeom prst="roundRect">
            <a:avLst>
              <a:gd name="adj" fmla="val 5128"/>
            </a:avLst>
          </a:prstGeom>
          <a:solidFill>
            <a:srgbClr val="E8F1F5"/>
          </a:solidFill>
          <a:ln/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Shape 31"/>
          <p:cNvSpPr/>
          <p:nvPr/>
        </p:nvSpPr>
        <p:spPr>
          <a:xfrm>
            <a:off x="10012680" y="4023360"/>
            <a:ext cx="585216" cy="58521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40" name="Text 32"/>
          <p:cNvSpPr/>
          <p:nvPr/>
        </p:nvSpPr>
        <p:spPr>
          <a:xfrm>
            <a:off x="10012680" y="40233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41" name="Text 33"/>
          <p:cNvSpPr/>
          <p:nvPr/>
        </p:nvSpPr>
        <p:spPr>
          <a:xfrm>
            <a:off x="9171432" y="4709160"/>
            <a:ext cx="2267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Recommendations</a:t>
            </a:r>
            <a:endParaRPr lang="en-US" sz="1300" dirty="0"/>
          </a:p>
        </p:txBody>
      </p:sp>
      <p:sp>
        <p:nvSpPr>
          <p:cNvPr id="42" name="Text 34"/>
          <p:cNvSpPr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tells interviewers how I think and work as a Business Analyst start to finish.</a:t>
            </a:r>
            <a:endParaRPr lang="en-US" sz="1300" dirty="0"/>
          </a:p>
        </p:txBody>
      </p:sp>
      <p:sp>
        <p:nvSpPr>
          <p:cNvPr id="43" name="Text 35"/>
          <p:cNvSpPr/>
          <p:nvPr/>
        </p:nvSpPr>
        <p:spPr>
          <a:xfrm>
            <a:off x="11548872" y="3200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ANALYST DELIVERABLES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Created for This Project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68780"/>
            <a:ext cx="457200" cy="457200"/>
          </a:xfrm>
          <a:prstGeom prst="ellipse">
            <a:avLst/>
          </a:prstGeom>
          <a:solidFill>
            <a:srgbClr val="1B8A5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390" y="1771650"/>
            <a:ext cx="251460" cy="2514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50876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Requirements Document (BRD)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63640" y="150876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46520" y="1668780"/>
            <a:ext cx="457200" cy="457200"/>
          </a:xfrm>
          <a:prstGeom prst="ellipse">
            <a:avLst/>
          </a:prstGeom>
          <a:solidFill>
            <a:srgbClr val="1B8A5A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9390" y="177165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86600" y="150876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Requirements Document (FRD)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48640" y="2487168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31520" y="2647188"/>
            <a:ext cx="457200" cy="457200"/>
          </a:xfrm>
          <a:prstGeom prst="ellipse">
            <a:avLst/>
          </a:prstGeom>
          <a:solidFill>
            <a:srgbClr val="1B8A5A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390" y="2750058"/>
            <a:ext cx="251460" cy="2514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71600" y="2487168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6263640" y="2487168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46520" y="2647188"/>
            <a:ext cx="457200" cy="457200"/>
          </a:xfrm>
          <a:prstGeom prst="ellipse">
            <a:avLst/>
          </a:prstGeom>
          <a:solidFill>
            <a:srgbClr val="1B8A5A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9390" y="2750058"/>
            <a:ext cx="251460" cy="2514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086600" y="2487168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548640" y="3465576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31520" y="3625596"/>
            <a:ext cx="457200" cy="457200"/>
          </a:xfrm>
          <a:prstGeom prst="ellipse">
            <a:avLst/>
          </a:prstGeom>
          <a:solidFill>
            <a:srgbClr val="1B8A5A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390" y="3728466"/>
            <a:ext cx="251460" cy="25146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371600" y="3465576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Diagram (Data Model)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6263640" y="3465576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446520" y="3625596"/>
            <a:ext cx="457200" cy="457200"/>
          </a:xfrm>
          <a:prstGeom prst="ellipse">
            <a:avLst/>
          </a:prstGeom>
          <a:solidFill>
            <a:srgbClr val="1B8A5A"/>
          </a:solidFill>
          <a:ln/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9390" y="3728466"/>
            <a:ext cx="251460" cy="2514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7086600" y="3465576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Dictionary</a:t>
            </a:r>
            <a:endParaRPr lang="en-US" sz="1500" dirty="0"/>
          </a:p>
        </p:txBody>
      </p:sp>
      <p:sp>
        <p:nvSpPr>
          <p:cNvPr id="28" name="Shape 20"/>
          <p:cNvSpPr/>
          <p:nvPr/>
        </p:nvSpPr>
        <p:spPr>
          <a:xfrm>
            <a:off x="548640" y="4443984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731520" y="4604004"/>
            <a:ext cx="457200" cy="457200"/>
          </a:xfrm>
          <a:prstGeom prst="ellipse">
            <a:avLst/>
          </a:prstGeom>
          <a:solidFill>
            <a:srgbClr val="1B8A5A"/>
          </a:solidFill>
          <a:ln/>
        </p:spPr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390" y="4706874"/>
            <a:ext cx="251460" cy="25146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1371600" y="4443984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Analysis</a:t>
            </a:r>
            <a:endParaRPr lang="en-US" sz="1500" dirty="0"/>
          </a:p>
        </p:txBody>
      </p:sp>
      <p:sp>
        <p:nvSpPr>
          <p:cNvPr id="32" name="Shape 23"/>
          <p:cNvSpPr/>
          <p:nvPr/>
        </p:nvSpPr>
        <p:spPr>
          <a:xfrm>
            <a:off x="6263640" y="4443984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446520" y="4604004"/>
            <a:ext cx="457200" cy="457200"/>
          </a:xfrm>
          <a:prstGeom prst="ellipse">
            <a:avLst/>
          </a:prstGeom>
          <a:solidFill>
            <a:srgbClr val="1B8A5A"/>
          </a:solidFill>
          <a:ln/>
        </p:spPr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9390" y="4706874"/>
            <a:ext cx="251460" cy="251460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7086600" y="4443984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Dashboard</a:t>
            </a:r>
            <a:endParaRPr lang="en-US" sz="1500" dirty="0"/>
          </a:p>
        </p:txBody>
      </p:sp>
      <p:sp>
        <p:nvSpPr>
          <p:cNvPr id="36" name="Shape 26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2545"/>
          </a:solidFill>
          <a:ln/>
        </p:spPr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650992"/>
            <a:ext cx="365760" cy="365760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1280160" y="544068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full set of deliverables shows end-to-end BA work — from gathering requirements to building the final dashboard.</a:t>
            </a:r>
            <a:endParaRPr lang="en-US" sz="1300" dirty="0"/>
          </a:p>
        </p:txBody>
      </p:sp>
      <p:sp>
        <p:nvSpPr>
          <p:cNvPr id="39" name="Text 28"/>
          <p:cNvSpPr/>
          <p:nvPr/>
        </p:nvSpPr>
        <p:spPr>
          <a:xfrm>
            <a:off x="11548872" y="3200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 Diagram : Data Model Overview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937760" y="1719072"/>
            <a:ext cx="2286000" cy="0"/>
          </a:xfrm>
          <a:prstGeom prst="rect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74920" y="140817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Tender_Master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709160" y="2633472"/>
            <a:ext cx="2743200" cy="0"/>
          </a:xfrm>
          <a:prstGeom prst="rect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232257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Sales_Fact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846320" y="2670048"/>
            <a:ext cx="246888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406640" y="3959352"/>
            <a:ext cx="2788920" cy="0"/>
          </a:xfrm>
          <a:prstGeom prst="rect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43800" y="3648456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Payment_Tracking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43800" y="3995928"/>
            <a:ext cx="2514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E8F1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PK: Payment_ID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E8F1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FK: Invoice_ID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468880" y="5148072"/>
            <a:ext cx="2788920" cy="0"/>
          </a:xfrm>
          <a:prstGeom prst="rect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4837176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Supplier_Master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606040" y="5184648"/>
            <a:ext cx="2514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E8F1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PK: Supplier_ID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48640" y="562356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8F1F5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56235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Tender_Master holds tender details. Sales_Fact links each invoice to its tender and medicine, and feeds Medicine_Inventory and Payment_Tracking. Supplier_Master connects through Medicine_Inventory to track supplier-linked stock.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1548872" y="3200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C54ED1E3-987C-7993-B810-294B5DA04E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1112" y="1260764"/>
            <a:ext cx="6514962" cy="421648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DASHBOARD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&amp; Tender Performance</a:t>
            </a:r>
            <a:endParaRPr lang="en-US" sz="300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548640" y="2907792"/>
          <a:ext cx="548640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4" name="Chart 1"/>
          <p:cNvGraphicFramePr/>
          <p:nvPr/>
        </p:nvGraphicFramePr>
        <p:xfrm>
          <a:off x="6263640" y="2907792"/>
          <a:ext cx="53949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9" name="Text 21"/>
          <p:cNvSpPr/>
          <p:nvPr/>
        </p:nvSpPr>
        <p:spPr>
          <a:xfrm>
            <a:off x="11548872" y="3200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00B226-187B-1771-D0CA-0EA1EC56F4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073" y="1161288"/>
            <a:ext cx="10986653" cy="5564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DASHBOARD — PAGE 2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6126480" y="15544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600" dirty="0"/>
          </a:p>
        </p:txBody>
      </p:sp>
      <p:sp>
        <p:nvSpPr>
          <p:cNvPr id="28" name="Text 20"/>
          <p:cNvSpPr/>
          <p:nvPr/>
        </p:nvSpPr>
        <p:spPr>
          <a:xfrm>
            <a:off x="822960" y="598932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1,671 delayed deliveries (92.8%) — Maharashtra has the highest delays, Karnataka the lowest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Capsule and Tablet medicines carry the highest expiry risk — inventory optimization is needed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 monitoring delivery performance quarterly to catch delays early</a:t>
            </a:r>
            <a:endParaRPr lang="en-US" sz="1200" dirty="0"/>
          </a:p>
        </p:txBody>
      </p:sp>
      <p:sp>
        <p:nvSpPr>
          <p:cNvPr id="29" name="Text 21"/>
          <p:cNvSpPr/>
          <p:nvPr/>
        </p:nvSpPr>
        <p:spPr>
          <a:xfrm>
            <a:off x="11548872" y="3200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81A7F2-85A5-8748-ED52-81FD3DC61ECB}"/>
              </a:ext>
            </a:extLst>
          </p:cNvPr>
          <p:cNvSpPr txBox="1"/>
          <p:nvPr/>
        </p:nvSpPr>
        <p:spPr>
          <a:xfrm>
            <a:off x="277368" y="594360"/>
            <a:ext cx="88666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Operation Dashboard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1E7C1D-9E1C-D603-D0A5-CA09926735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61706"/>
            <a:ext cx="10989603" cy="547625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DASHBOARD — PAGE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Finance Dashboard</a:t>
            </a:r>
            <a:endParaRPr lang="en-US" sz="3000" dirty="0"/>
          </a:p>
        </p:txBody>
      </p:sp>
      <p:sp>
        <p:nvSpPr>
          <p:cNvPr id="27" name="Text 19"/>
          <p:cNvSpPr/>
          <p:nvPr/>
        </p:nvSpPr>
        <p:spPr>
          <a:xfrm>
            <a:off x="822960" y="5989320"/>
            <a:ext cx="10085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₹30.27 Cr in outstanding receivables; ESIC Hospital has the highest outstanding amount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receivable age is 281 days — collection risk is increasing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receivable age raises working capital risk — prioritize collection from top hospitals</a:t>
            </a:r>
            <a:endParaRPr lang="en-US" sz="1200" dirty="0"/>
          </a:p>
        </p:txBody>
      </p:sp>
      <p:sp>
        <p:nvSpPr>
          <p:cNvPr id="28" name="Text 20"/>
          <p:cNvSpPr/>
          <p:nvPr/>
        </p:nvSpPr>
        <p:spPr>
          <a:xfrm>
            <a:off x="11548872" y="3200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7E88D4-38D8-0DBC-35CB-9DAD858681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462" y="1408176"/>
            <a:ext cx="10479302" cy="512978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3FEE1-E245-8AFD-8B4E-DBE12F464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A708D8F-DC28-61E0-8631-0CE51F0D4D67}"/>
              </a:ext>
            </a:extLst>
          </p:cNvPr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Findings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9B49F4-4458-450B-911F-80398FC7F695}"/>
              </a:ext>
            </a:extLst>
          </p:cNvPr>
          <p:cNvSpPr/>
          <p:nvPr/>
        </p:nvSpPr>
        <p:spPr>
          <a:xfrm>
            <a:off x="548640" y="56692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</a:rPr>
              <a:t>Top 5 Business Finding</a:t>
            </a:r>
            <a:endParaRPr lang="en-US" sz="30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03C7112F-5FD9-4233-B5B0-966B218B8812}"/>
              </a:ext>
            </a:extLst>
          </p:cNvPr>
          <p:cNvSpPr/>
          <p:nvPr/>
        </p:nvSpPr>
        <p:spPr>
          <a:xfrm>
            <a:off x="1078992" y="155448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8AE3BCAE-7A45-8A81-D71A-ED0EE84D1A1C}"/>
              </a:ext>
            </a:extLst>
          </p:cNvPr>
          <p:cNvSpPr/>
          <p:nvPr/>
        </p:nvSpPr>
        <p:spPr>
          <a:xfrm>
            <a:off x="6510528" y="1984248"/>
            <a:ext cx="4855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endParaRPr lang="en-US" sz="950" dirty="0"/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DFFE36B2-7E83-A645-DFCC-3FA8332555A6}"/>
              </a:ext>
            </a:extLst>
          </p:cNvPr>
          <p:cNvSpPr/>
          <p:nvPr/>
        </p:nvSpPr>
        <p:spPr>
          <a:xfrm>
            <a:off x="1078992" y="3904488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400" dirty="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42A531E2-B0C7-09F4-8F6C-57147F02E10A}"/>
              </a:ext>
            </a:extLst>
          </p:cNvPr>
          <p:cNvSpPr/>
          <p:nvPr/>
        </p:nvSpPr>
        <p:spPr>
          <a:xfrm>
            <a:off x="783336" y="4300451"/>
            <a:ext cx="4855464" cy="1298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endParaRPr lang="en-US" sz="950" dirty="0"/>
          </a:p>
        </p:txBody>
      </p:sp>
      <p:sp>
        <p:nvSpPr>
          <p:cNvPr id="24" name="Text 18">
            <a:extLst>
              <a:ext uri="{FF2B5EF4-FFF2-40B4-BE49-F238E27FC236}">
                <a16:creationId xmlns:a16="http://schemas.microsoft.com/office/drawing/2014/main" id="{5A1AF803-7B7F-BEA5-66CD-3A45A4508CA0}"/>
              </a:ext>
            </a:extLst>
          </p:cNvPr>
          <p:cNvSpPr/>
          <p:nvPr/>
        </p:nvSpPr>
        <p:spPr>
          <a:xfrm>
            <a:off x="6748272" y="3904488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8" name="Text 22">
            <a:extLst>
              <a:ext uri="{FF2B5EF4-FFF2-40B4-BE49-F238E27FC236}">
                <a16:creationId xmlns:a16="http://schemas.microsoft.com/office/drawing/2014/main" id="{D5073A88-C049-338E-FD20-21A5918276FE}"/>
              </a:ext>
            </a:extLst>
          </p:cNvPr>
          <p:cNvSpPr/>
          <p:nvPr/>
        </p:nvSpPr>
        <p:spPr>
          <a:xfrm>
            <a:off x="11548872" y="3200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0" name="Shape 15">
            <a:extLst>
              <a:ext uri="{FF2B5EF4-FFF2-40B4-BE49-F238E27FC236}">
                <a16:creationId xmlns:a16="http://schemas.microsoft.com/office/drawing/2014/main" id="{4C3A393F-7604-06DF-42E8-CB1DCAE089AD}"/>
              </a:ext>
            </a:extLst>
          </p:cNvPr>
          <p:cNvSpPr/>
          <p:nvPr/>
        </p:nvSpPr>
        <p:spPr>
          <a:xfrm>
            <a:off x="859536" y="1460545"/>
            <a:ext cx="675547" cy="46745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35643F8-6AC1-E169-1C84-A0670369B023}"/>
              </a:ext>
            </a:extLst>
          </p:cNvPr>
          <p:cNvSpPr/>
          <p:nvPr/>
        </p:nvSpPr>
        <p:spPr>
          <a:xfrm>
            <a:off x="879648" y="1460543"/>
            <a:ext cx="10422334" cy="65781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                 </a:t>
            </a:r>
          </a:p>
          <a:p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               Maharashtra contributes highest revenue but also highest delivery delays.</a:t>
            </a:r>
            <a:endParaRPr lang="en-IN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ptos" panose="020B0004020202020204" pitchFamily="34" charset="0"/>
            </a:endParaRPr>
          </a:p>
          <a:p>
            <a:endParaRPr lang="en-US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IN" dirty="0"/>
          </a:p>
        </p:txBody>
      </p:sp>
      <p:pic>
        <p:nvPicPr>
          <p:cNvPr id="39" name="Image 0" descr="preencoded.png">
            <a:extLst>
              <a:ext uri="{FF2B5EF4-FFF2-40B4-BE49-F238E27FC236}">
                <a16:creationId xmlns:a16="http://schemas.microsoft.com/office/drawing/2014/main" id="{3E5BE42F-C091-5B39-9318-539214D60E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622" y="1757101"/>
            <a:ext cx="251460" cy="251460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AEDB4012-8354-012F-3EA1-E90D2F724025}"/>
              </a:ext>
            </a:extLst>
          </p:cNvPr>
          <p:cNvSpPr/>
          <p:nvPr/>
        </p:nvSpPr>
        <p:spPr>
          <a:xfrm>
            <a:off x="6003634" y="2967335"/>
            <a:ext cx="18473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4A1D017-A6C9-6503-61E3-E9C14CBD36F6}"/>
              </a:ext>
            </a:extLst>
          </p:cNvPr>
          <p:cNvSpPr/>
          <p:nvPr/>
        </p:nvSpPr>
        <p:spPr>
          <a:xfrm>
            <a:off x="879648" y="2405984"/>
            <a:ext cx="10422334" cy="69954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               Emergency tenders have lower performance than other categories.</a:t>
            </a:r>
            <a:endParaRPr lang="en-US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endParaRPr lang="en-IN" dirty="0"/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2B1C9FFD-A0D4-F11F-89DE-BE5253A12A5E}"/>
              </a:ext>
            </a:extLst>
          </p:cNvPr>
          <p:cNvSpPr/>
          <p:nvPr/>
        </p:nvSpPr>
        <p:spPr>
          <a:xfrm>
            <a:off x="879648" y="3407954"/>
            <a:ext cx="10422334" cy="765869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              Capsule and Tablet medicines show highest expiry risk.</a:t>
            </a:r>
            <a:endParaRPr lang="en-US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endParaRPr lang="en-IN" dirty="0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E724CA74-25F8-F722-33D0-ED79C2F86063}"/>
              </a:ext>
            </a:extLst>
          </p:cNvPr>
          <p:cNvSpPr/>
          <p:nvPr/>
        </p:nvSpPr>
        <p:spPr>
          <a:xfrm>
            <a:off x="879647" y="4510761"/>
            <a:ext cx="10422335" cy="792759"/>
          </a:xfrm>
          <a:prstGeom prst="roundRect">
            <a:avLst>
              <a:gd name="adj" fmla="val 13172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                 ESIC Hospital has highest outstanding payments.</a:t>
            </a:r>
            <a:endParaRPr lang="en-US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endParaRPr lang="en-IN" dirty="0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0A98795C-E8F9-10F4-CEE7-C5411798AA86}"/>
              </a:ext>
            </a:extLst>
          </p:cNvPr>
          <p:cNvSpPr/>
          <p:nvPr/>
        </p:nvSpPr>
        <p:spPr>
          <a:xfrm>
            <a:off x="823236" y="5623254"/>
            <a:ext cx="10478746" cy="792759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 </a:t>
            </a:r>
          </a:p>
          <a:p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               Average payment age exceeds 280 days, creating collection risk..</a:t>
            </a:r>
            <a:endParaRPr lang="en-IN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ptos" panose="020B0004020202020204" pitchFamily="34" charset="0"/>
            </a:endParaRPr>
          </a:p>
          <a:p>
            <a:endParaRPr lang="en-US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IN" dirty="0"/>
          </a:p>
        </p:txBody>
      </p:sp>
      <p:pic>
        <p:nvPicPr>
          <p:cNvPr id="50" name="Graphic 49" descr="Crown with solid fill">
            <a:extLst>
              <a:ext uri="{FF2B5EF4-FFF2-40B4-BE49-F238E27FC236}">
                <a16:creationId xmlns:a16="http://schemas.microsoft.com/office/drawing/2014/main" id="{4057777B-4B53-FF3C-4BE0-54B06ED6D9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0189" y="1527504"/>
            <a:ext cx="472107" cy="472107"/>
          </a:xfrm>
          <a:prstGeom prst="rect">
            <a:avLst/>
          </a:prstGeom>
        </p:spPr>
      </p:pic>
      <p:pic>
        <p:nvPicPr>
          <p:cNvPr id="52" name="Graphic 51" descr="Pie chart with solid fill">
            <a:extLst>
              <a:ext uri="{FF2B5EF4-FFF2-40B4-BE49-F238E27FC236}">
                <a16:creationId xmlns:a16="http://schemas.microsoft.com/office/drawing/2014/main" id="{EEC94985-8060-4974-A950-100DBC3689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0189" y="2554390"/>
            <a:ext cx="435698" cy="435698"/>
          </a:xfrm>
          <a:prstGeom prst="rect">
            <a:avLst/>
          </a:prstGeom>
        </p:spPr>
      </p:pic>
      <p:pic>
        <p:nvPicPr>
          <p:cNvPr id="54" name="Graphic 53" descr="Network with solid fill">
            <a:extLst>
              <a:ext uri="{FF2B5EF4-FFF2-40B4-BE49-F238E27FC236}">
                <a16:creationId xmlns:a16="http://schemas.microsoft.com/office/drawing/2014/main" id="{B8A1F7B9-7DDC-3B80-D2BF-4339404933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5704" y="3452454"/>
            <a:ext cx="501075" cy="501075"/>
          </a:xfrm>
          <a:prstGeom prst="rect">
            <a:avLst/>
          </a:prstGeom>
        </p:spPr>
      </p:pic>
      <p:pic>
        <p:nvPicPr>
          <p:cNvPr id="56" name="Graphic 55" descr="Money with solid fill">
            <a:extLst>
              <a:ext uri="{FF2B5EF4-FFF2-40B4-BE49-F238E27FC236}">
                <a16:creationId xmlns:a16="http://schemas.microsoft.com/office/drawing/2014/main" id="{86DEB122-5287-48A2-35AB-E6FA1F5F00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5504" y="4612452"/>
            <a:ext cx="591275" cy="591275"/>
          </a:xfrm>
          <a:prstGeom prst="rect">
            <a:avLst/>
          </a:prstGeom>
        </p:spPr>
      </p:pic>
      <p:pic>
        <p:nvPicPr>
          <p:cNvPr id="60" name="Graphic 59" descr="Warning with solid fill">
            <a:extLst>
              <a:ext uri="{FF2B5EF4-FFF2-40B4-BE49-F238E27FC236}">
                <a16:creationId xmlns:a16="http://schemas.microsoft.com/office/drawing/2014/main" id="{B760E275-E295-8C38-D997-747BEB523D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78992" y="5773436"/>
            <a:ext cx="456895" cy="456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9436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Turning Raw Data into Business Insight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581912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8992" y="155448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Tender Win Ratio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31520" y="1947672"/>
            <a:ext cx="5074920" cy="1078992"/>
          </a:xfrm>
          <a:prstGeom prst="roundRect">
            <a:avLst>
              <a:gd name="adj" fmla="val 4237"/>
            </a:avLst>
          </a:prstGeom>
          <a:solidFill>
            <a:srgbClr val="0B2545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984248"/>
            <a:ext cx="4855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tender_status,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COUNT(*) AS total_tenders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tender_master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tender_status;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31520" y="3099816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 of 200 tenders won — overall win ratio of 71.5%.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17920" y="141732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58191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748272" y="155448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State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400800" y="1947672"/>
            <a:ext cx="5074920" cy="1078992"/>
          </a:xfrm>
          <a:prstGeom prst="roundRect">
            <a:avLst>
              <a:gd name="adj" fmla="val 4237"/>
            </a:avLst>
          </a:prstGeom>
          <a:solidFill>
            <a:srgbClr val="0B2545"/>
          </a:solidFill>
          <a:ln/>
        </p:spPr>
      </p:sp>
      <p:sp>
        <p:nvSpPr>
          <p:cNvPr id="14" name="Text 10"/>
          <p:cNvSpPr/>
          <p:nvPr/>
        </p:nvSpPr>
        <p:spPr>
          <a:xfrm>
            <a:off x="6510528" y="1984248"/>
            <a:ext cx="4855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tm.Region,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SUM(sf.Sales_Amount)/1000 AS Revenue_K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tender_master tm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sales_fact sf ON sf.Tender_ID=tm.Tender_ID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tm.Region;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6400800" y="3099816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Maharashtra generates the highest revenue; Karnataka the lowest.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48640" y="3767327"/>
            <a:ext cx="5486400" cy="2425655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31920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78992" y="3904488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/>
              <a:t>Average Delivery Delay by State</a:t>
            </a:r>
          </a:p>
        </p:txBody>
      </p:sp>
      <p:sp>
        <p:nvSpPr>
          <p:cNvPr id="19" name="Shape 14"/>
          <p:cNvSpPr/>
          <p:nvPr/>
        </p:nvSpPr>
        <p:spPr>
          <a:xfrm>
            <a:off x="731520" y="4297680"/>
            <a:ext cx="5074920" cy="1362457"/>
          </a:xfrm>
          <a:prstGeom prst="roundRect">
            <a:avLst>
              <a:gd name="adj" fmla="val 4237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0" name="Text 15"/>
          <p:cNvSpPr/>
          <p:nvPr/>
        </p:nvSpPr>
        <p:spPr>
          <a:xfrm>
            <a:off x="841248" y="4334256"/>
            <a:ext cx="4855464" cy="1298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b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950" dirty="0" err="1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tm.Region</a:t>
            </a: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</a:p>
          <a:p>
            <a:pPr>
              <a:lnSpc>
                <a:spcPct val="105000"/>
              </a:lnSpc>
            </a:pP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ROUND(AVG(</a:t>
            </a:r>
            <a:r>
              <a:rPr lang="en-US" sz="950" dirty="0" err="1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dt.Delay_Days</a:t>
            </a: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),2) AS </a:t>
            </a:r>
            <a:r>
              <a:rPr lang="en-US" sz="950" dirty="0" err="1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Avg_Delay_Days</a:t>
            </a:r>
            <a:endParaRPr lang="en-US" sz="950" dirty="0">
              <a:solidFill>
                <a:srgbClr val="B7E3D8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lnSpc>
                <a:spcPct val="105000"/>
              </a:lnSpc>
            </a:pP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r>
              <a:rPr lang="en-US" sz="950" dirty="0" err="1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delivery_tracking</a:t>
            </a: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dt</a:t>
            </a:r>
          </a:p>
          <a:p>
            <a:pPr>
              <a:lnSpc>
                <a:spcPct val="105000"/>
              </a:lnSpc>
            </a:pP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INNER JOIN </a:t>
            </a:r>
            <a:r>
              <a:rPr lang="en-US" sz="950" dirty="0" err="1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tender_master</a:t>
            </a: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tm</a:t>
            </a:r>
          </a:p>
          <a:p>
            <a:pPr>
              <a:lnSpc>
                <a:spcPct val="105000"/>
              </a:lnSpc>
            </a:pP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</a:t>
            </a:r>
            <a:r>
              <a:rPr lang="en-US" sz="950" dirty="0" err="1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dt.Tender_ID</a:t>
            </a: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950" dirty="0" err="1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tm.Tender_ID</a:t>
            </a:r>
            <a:endParaRPr lang="en-US" sz="950" dirty="0">
              <a:solidFill>
                <a:srgbClr val="B7E3D8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lnSpc>
                <a:spcPct val="105000"/>
              </a:lnSpc>
            </a:pP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</a:t>
            </a:r>
            <a:r>
              <a:rPr lang="en-US" sz="950" dirty="0" err="1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tm.Region</a:t>
            </a:r>
            <a:endParaRPr lang="en-US" sz="950" dirty="0">
              <a:solidFill>
                <a:srgbClr val="B7E3D8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lnSpc>
                <a:spcPct val="105000"/>
              </a:lnSpc>
            </a:pP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</a:t>
            </a:r>
            <a:r>
              <a:rPr lang="en-US" sz="950" dirty="0" err="1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Avg_Delay_Days</a:t>
            </a: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DESC;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731520" y="5733290"/>
            <a:ext cx="5074920" cy="384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delivery delay is approximately 6 days.</a:t>
            </a:r>
          </a:p>
          <a:p>
            <a:r>
              <a:rPr lang="en-US" sz="11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Maharashtra records the highest delivery delays among all states.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6217920" y="3767328"/>
            <a:ext cx="5440680" cy="2425654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931920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748272" y="3904488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 Payments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6400800" y="4297680"/>
            <a:ext cx="5056632" cy="1335023"/>
          </a:xfrm>
          <a:prstGeom prst="roundRect">
            <a:avLst>
              <a:gd name="adj" fmla="val 4237"/>
            </a:avLst>
          </a:prstGeom>
          <a:solidFill>
            <a:srgbClr val="0B2545"/>
          </a:solidFill>
          <a:ln/>
        </p:spPr>
      </p:sp>
      <p:sp>
        <p:nvSpPr>
          <p:cNvPr id="26" name="Text 20"/>
          <p:cNvSpPr/>
          <p:nvPr/>
        </p:nvSpPr>
        <p:spPr>
          <a:xfrm>
            <a:off x="6510528" y="4334256"/>
            <a:ext cx="4855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Hospital_Name,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SUM(Due_Amount) AS Pending_Amt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payment_tracking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Payment_Status='Pending'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Hospital_Name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7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Pending_Amt DESC;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6400800" y="5705856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 Hospital carries the largest pending payment balance.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11548872" y="3200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Recommendations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29584" cy="4206240"/>
          </a:xfrm>
          <a:prstGeom prst="roundRect">
            <a:avLst>
              <a:gd name="adj" fmla="val 2591"/>
            </a:avLst>
          </a:prstGeom>
          <a:solidFill>
            <a:srgbClr val="E8F1F5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3529584" cy="91440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74520"/>
            <a:ext cx="3529584" cy="4572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Shape 5"/>
          <p:cNvSpPr/>
          <p:nvPr/>
        </p:nvSpPr>
        <p:spPr>
          <a:xfrm>
            <a:off x="1993392" y="1581912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7410" y="1725930"/>
            <a:ext cx="352044" cy="3520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242316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Tender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22960" y="2926080"/>
            <a:ext cx="2980944" cy="2116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Emergency tender performance.</a:t>
            </a:r>
          </a:p>
          <a:p>
            <a:pPr marL="285750" indent="-285750"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successful bidding patterns.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participation in high-win regions.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306824" y="1417320"/>
            <a:ext cx="3529584" cy="4206240"/>
          </a:xfrm>
          <a:prstGeom prst="roundRect">
            <a:avLst>
              <a:gd name="adj" fmla="val 2591"/>
            </a:avLst>
          </a:prstGeom>
          <a:solidFill>
            <a:srgbClr val="E8F1F5"/>
          </a:solidFill>
          <a:ln/>
        </p:spPr>
      </p:sp>
      <p:sp>
        <p:nvSpPr>
          <p:cNvPr id="12" name="Shape 9"/>
          <p:cNvSpPr/>
          <p:nvPr/>
        </p:nvSpPr>
        <p:spPr>
          <a:xfrm>
            <a:off x="4306824" y="1417320"/>
            <a:ext cx="3529584" cy="9144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/>
        </p:spPr>
      </p:sp>
      <p:sp>
        <p:nvSpPr>
          <p:cNvPr id="13" name="Shape 10"/>
          <p:cNvSpPr/>
          <p:nvPr/>
        </p:nvSpPr>
        <p:spPr>
          <a:xfrm>
            <a:off x="4306824" y="1874520"/>
            <a:ext cx="3529584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Shape 11"/>
          <p:cNvSpPr/>
          <p:nvPr/>
        </p:nvSpPr>
        <p:spPr>
          <a:xfrm>
            <a:off x="5751576" y="1581912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5594" y="1725930"/>
            <a:ext cx="352044" cy="35204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306824" y="242316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Operations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4581144" y="2926080"/>
            <a:ext cx="2980944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supplier performance monthly.</a:t>
            </a:r>
          </a:p>
          <a:p>
            <a:pPr marL="285750" indent="-285750"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delivery delays in Maharashtra.</a:t>
            </a:r>
          </a:p>
          <a:p>
            <a:pPr marL="285750" indent="-285750"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expiry risk using inventory alerts.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8065008" y="1417320"/>
            <a:ext cx="3529584" cy="4206240"/>
          </a:xfrm>
          <a:prstGeom prst="roundRect">
            <a:avLst>
              <a:gd name="adj" fmla="val 2591"/>
            </a:avLst>
          </a:prstGeom>
          <a:solidFill>
            <a:srgbClr val="E8F1F5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9" name="Shape 15"/>
          <p:cNvSpPr/>
          <p:nvPr/>
        </p:nvSpPr>
        <p:spPr>
          <a:xfrm>
            <a:off x="8065008" y="1417320"/>
            <a:ext cx="3529584" cy="914400"/>
          </a:xfrm>
          <a:prstGeom prst="roundRect">
            <a:avLst>
              <a:gd name="adj" fmla="val 10000"/>
            </a:avLst>
          </a:prstGeom>
          <a:solidFill>
            <a:srgbClr val="C98A2B"/>
          </a:solidFill>
          <a:ln/>
        </p:spPr>
      </p:sp>
      <p:sp>
        <p:nvSpPr>
          <p:cNvPr id="20" name="Shape 16"/>
          <p:cNvSpPr/>
          <p:nvPr/>
        </p:nvSpPr>
        <p:spPr>
          <a:xfrm>
            <a:off x="8065008" y="1874520"/>
            <a:ext cx="3529584" cy="457200"/>
          </a:xfrm>
          <a:prstGeom prst="rect">
            <a:avLst/>
          </a:prstGeom>
          <a:solidFill>
            <a:srgbClr val="C98A2B"/>
          </a:solidFill>
          <a:ln/>
        </p:spPr>
      </p:sp>
      <p:sp>
        <p:nvSpPr>
          <p:cNvPr id="21" name="Shape 17"/>
          <p:cNvSpPr/>
          <p:nvPr/>
        </p:nvSpPr>
        <p:spPr>
          <a:xfrm>
            <a:off x="9509760" y="1581912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3778" y="1725930"/>
            <a:ext cx="352044" cy="35204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065008" y="242316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Finance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8339328" y="2926080"/>
            <a:ext cx="2980944" cy="1992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ageing-based collection reports.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high-value pending invoices.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payment recovery monthly.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11548872" y="3200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vs After the Dashboard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029200" cy="4114800"/>
          </a:xfrm>
          <a:prstGeom prst="roundRect">
            <a:avLst>
              <a:gd name="adj" fmla="val 2222"/>
            </a:avLst>
          </a:prstGeom>
          <a:solidFill>
            <a:srgbClr val="E8F1F5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508760"/>
            <a:ext cx="5029200" cy="777240"/>
          </a:xfrm>
          <a:prstGeom prst="roundRect">
            <a:avLst>
              <a:gd name="adj" fmla="val 11765"/>
            </a:avLst>
          </a:prstGeom>
          <a:solidFill>
            <a:srgbClr val="B3261E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92808"/>
            <a:ext cx="5029200" cy="393192"/>
          </a:xfrm>
          <a:prstGeom prst="rect">
            <a:avLst/>
          </a:prstGeom>
          <a:solidFill>
            <a:srgbClr val="B3261E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09928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25880" y="150876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Dashboard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914400" y="2560320"/>
            <a:ext cx="42976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stored in multiple Excel files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reporting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decision-making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centralized monitoring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611112" y="1508760"/>
            <a:ext cx="5029200" cy="4114800"/>
          </a:xfrm>
          <a:prstGeom prst="roundRect">
            <a:avLst>
              <a:gd name="adj" fmla="val 2222"/>
            </a:avLst>
          </a:prstGeom>
          <a:solidFill>
            <a:srgbClr val="E8F1F5"/>
          </a:solidFill>
          <a:ln/>
        </p:spPr>
      </p:sp>
      <p:sp>
        <p:nvSpPr>
          <p:cNvPr id="11" name="Shape 8"/>
          <p:cNvSpPr/>
          <p:nvPr/>
        </p:nvSpPr>
        <p:spPr>
          <a:xfrm>
            <a:off x="6611112" y="1508760"/>
            <a:ext cx="5029200" cy="777240"/>
          </a:xfrm>
          <a:prstGeom prst="roundRect">
            <a:avLst>
              <a:gd name="adj" fmla="val 11765"/>
            </a:avLst>
          </a:prstGeom>
          <a:solidFill>
            <a:srgbClr val="1B8A5A"/>
          </a:solidFill>
          <a:ln/>
        </p:spPr>
      </p:sp>
      <p:sp>
        <p:nvSpPr>
          <p:cNvPr id="12" name="Shape 9"/>
          <p:cNvSpPr/>
          <p:nvPr/>
        </p:nvSpPr>
        <p:spPr>
          <a:xfrm>
            <a:off x="6611112" y="1892808"/>
            <a:ext cx="5029200" cy="393192"/>
          </a:xfrm>
          <a:prstGeom prst="rect">
            <a:avLst/>
          </a:prstGeom>
          <a:solidFill>
            <a:srgbClr val="1B8A5A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5432" y="1709928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388352" y="150876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Dashboard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6976872" y="2560320"/>
            <a:ext cx="42976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source of truth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reporting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visibility of tender performance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inventory &amp; payment monitoring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5728716" y="3200400"/>
            <a:ext cx="731520" cy="73152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1596" y="3383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directly matches the BRD objective: a centralized reporting solution for tender, inventory, supplier, logistics, payment, and compliance activities.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1548872" y="3200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5486400" cy="5486400"/>
          </a:xfrm>
          <a:prstGeom prst="ellipse">
            <a:avLst/>
          </a:prstGeom>
          <a:solidFill>
            <a:srgbClr val="065A82">
              <a:alpha val="2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Benefits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21792" y="2377440"/>
            <a:ext cx="2057400" cy="2377440"/>
          </a:xfrm>
          <a:prstGeom prst="roundRect">
            <a:avLst>
              <a:gd name="adj" fmla="val 444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4732" y="274320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7612" y="29260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58952" y="365760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tender decisions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2843784" y="2377440"/>
            <a:ext cx="2057400" cy="2377440"/>
          </a:xfrm>
          <a:prstGeom prst="roundRect">
            <a:avLst>
              <a:gd name="adj" fmla="val 444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6724" y="274320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9604" y="29260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980944" y="365760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payment collection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5065776" y="2377440"/>
            <a:ext cx="2057400" cy="2377440"/>
          </a:xfrm>
          <a:prstGeom prst="roundRect">
            <a:avLst>
              <a:gd name="adj" fmla="val 444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728716" y="274320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1596" y="292608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202936" y="365760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stock shortages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7287768" y="2377440"/>
            <a:ext cx="2057400" cy="2377440"/>
          </a:xfrm>
          <a:prstGeom prst="roundRect">
            <a:avLst>
              <a:gd name="adj" fmla="val 444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7950708" y="274320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3588" y="2926080"/>
            <a:ext cx="365760" cy="36576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424928" y="365760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expiry losses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9509760" y="2377440"/>
            <a:ext cx="2057400" cy="2377440"/>
          </a:xfrm>
          <a:prstGeom prst="roundRect">
            <a:avLst>
              <a:gd name="adj" fmla="val 444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10172700" y="274320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55580" y="2926080"/>
            <a:ext cx="365760" cy="36576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646920" y="365760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 profitability</a:t>
            </a:r>
            <a:endParaRPr lang="en-US" sz="1350" dirty="0"/>
          </a:p>
        </p:txBody>
      </p:sp>
      <p:sp>
        <p:nvSpPr>
          <p:cNvPr id="25" name="Text 18"/>
          <p:cNvSpPr/>
          <p:nvPr/>
        </p:nvSpPr>
        <p:spPr>
          <a:xfrm>
            <a:off x="11548872" y="3200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2CA12-0750-AD76-9117-3109943ED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280D9B-1CE0-EB53-630F-5586D0072E01}"/>
              </a:ext>
            </a:extLst>
          </p:cNvPr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 ANALYST LEARNINGS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BED190B-6ECA-D1E4-784E-CD22FEEFFAC7}"/>
              </a:ext>
            </a:extLst>
          </p:cNvPr>
          <p:cNvSpPr/>
          <p:nvPr/>
        </p:nvSpPr>
        <p:spPr>
          <a:xfrm>
            <a:off x="548640" y="56692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</a:rPr>
              <a:t>Tools and documentation </a:t>
            </a:r>
            <a:endParaRPr lang="en-US" sz="3000" dirty="0"/>
          </a:p>
        </p:txBody>
      </p:sp>
      <p:sp>
        <p:nvSpPr>
          <p:cNvPr id="28" name="Text 20">
            <a:extLst>
              <a:ext uri="{FF2B5EF4-FFF2-40B4-BE49-F238E27FC236}">
                <a16:creationId xmlns:a16="http://schemas.microsoft.com/office/drawing/2014/main" id="{E7FBBAD8-A4FE-D796-F95A-46CBA56D9811}"/>
              </a:ext>
            </a:extLst>
          </p:cNvPr>
          <p:cNvSpPr/>
          <p:nvPr/>
        </p:nvSpPr>
        <p:spPr>
          <a:xfrm>
            <a:off x="11548872" y="3200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BC6CEF29-9A65-E8CB-D956-770D9C8E75C4}"/>
              </a:ext>
            </a:extLst>
          </p:cNvPr>
          <p:cNvSpPr/>
          <p:nvPr/>
        </p:nvSpPr>
        <p:spPr>
          <a:xfrm>
            <a:off x="538169" y="1334039"/>
            <a:ext cx="5431930" cy="113602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Understood business problems and converted them into reporting requirements.</a:t>
            </a:r>
            <a:b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</a:br>
            <a:endParaRPr lang="en-IN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B0DB9177-7756-B9B2-4E0E-E2CC1580F331}"/>
              </a:ext>
            </a:extLst>
          </p:cNvPr>
          <p:cNvSpPr/>
          <p:nvPr/>
        </p:nvSpPr>
        <p:spPr>
          <a:xfrm>
            <a:off x="6190488" y="1338968"/>
            <a:ext cx="5452872" cy="113602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Prepared BRD and FRD documents based on stakeholder needs.</a:t>
            </a:r>
            <a:b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</a:br>
            <a:endParaRPr lang="en-IN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2EF5043-9169-FCA3-02AE-9EBC3813906A}"/>
              </a:ext>
            </a:extLst>
          </p:cNvPr>
          <p:cNvSpPr/>
          <p:nvPr/>
        </p:nvSpPr>
        <p:spPr>
          <a:xfrm>
            <a:off x="527698" y="2707589"/>
            <a:ext cx="5452872" cy="113602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Created user stories and acceptance criteria.</a:t>
            </a:r>
            <a:b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</a:br>
            <a:endParaRPr lang="en-IN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6B2CB9A-B114-5F58-B489-07900987A25F}"/>
              </a:ext>
            </a:extLst>
          </p:cNvPr>
          <p:cNvSpPr/>
          <p:nvPr/>
        </p:nvSpPr>
        <p:spPr>
          <a:xfrm>
            <a:off x="6194935" y="2707589"/>
            <a:ext cx="5452872" cy="113602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Designed an ER Diagram and data model.</a:t>
            </a:r>
            <a:br>
              <a:rPr lang="en-IN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</a:br>
            <a:endParaRPr lang="en-IN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3F39CE1-F7F1-2CAA-A8FE-B5BC38FAE3EF}"/>
              </a:ext>
            </a:extLst>
          </p:cNvPr>
          <p:cNvSpPr/>
          <p:nvPr/>
        </p:nvSpPr>
        <p:spPr>
          <a:xfrm>
            <a:off x="548640" y="4145511"/>
            <a:ext cx="5452872" cy="113602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Used SQL to answer business questions.</a:t>
            </a:r>
            <a:b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</a:br>
            <a:endParaRPr lang="en-IN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4E385336-B2D1-E06D-5395-22FDD150674F}"/>
              </a:ext>
            </a:extLst>
          </p:cNvPr>
          <p:cNvSpPr/>
          <p:nvPr/>
        </p:nvSpPr>
        <p:spPr>
          <a:xfrm>
            <a:off x="6190488" y="4145511"/>
            <a:ext cx="5452872" cy="113602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Built Power BI dashboards for management reporting.</a:t>
            </a:r>
            <a:b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</a:br>
            <a:endParaRPr lang="en-IN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443FC1B8-BDDE-D5CB-CD11-EB723E0347AF}"/>
              </a:ext>
            </a:extLst>
          </p:cNvPr>
          <p:cNvSpPr/>
          <p:nvPr/>
        </p:nvSpPr>
        <p:spPr>
          <a:xfrm>
            <a:off x="527698" y="5535637"/>
            <a:ext cx="5452872" cy="113602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Generated insights and recommendations to support decision making.</a:t>
            </a:r>
            <a:b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</a:br>
            <a:endParaRPr lang="en-IN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2EFEFFF5-C629-4326-245A-D44F2AFEB3F2}"/>
              </a:ext>
            </a:extLst>
          </p:cNvPr>
          <p:cNvSpPr/>
          <p:nvPr/>
        </p:nvSpPr>
        <p:spPr>
          <a:xfrm>
            <a:off x="6194935" y="5530795"/>
            <a:ext cx="5448425" cy="113602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Improved understanding of Business Analysis, SQL, and Power BI.</a:t>
            </a:r>
          </a:p>
        </p:txBody>
      </p:sp>
    </p:spTree>
    <p:extLst>
      <p:ext uri="{BB962C8B-B14F-4D97-AF65-F5344CB8AC3E}">
        <p14:creationId xmlns:p14="http://schemas.microsoft.com/office/powerpoint/2010/main" val="12177805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3657600"/>
            <a:ext cx="5486400" cy="5486400"/>
          </a:xfrm>
          <a:prstGeom prst="ellipse">
            <a:avLst/>
          </a:prstGeom>
          <a:solidFill>
            <a:srgbClr val="1C7293">
              <a:alpha val="2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LEARNINGS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Applied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2628" y="1691640"/>
            <a:ext cx="1517904" cy="1783080"/>
          </a:xfrm>
          <a:prstGeom prst="roundRect">
            <a:avLst>
              <a:gd name="adj" fmla="val 602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C98A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8972" y="1920240"/>
            <a:ext cx="585216" cy="585216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276" y="2066544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4068" y="2606040"/>
            <a:ext cx="1335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Analysis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080260" y="1691640"/>
            <a:ext cx="1517904" cy="1783080"/>
          </a:xfrm>
          <a:prstGeom prst="roundRect">
            <a:avLst>
              <a:gd name="adj" fmla="val 602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C98A2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546604" y="1920240"/>
            <a:ext cx="585216" cy="585216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2908" y="2066544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171700" y="2606040"/>
            <a:ext cx="1335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Gathering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3707892" y="1691640"/>
            <a:ext cx="1517904" cy="1783080"/>
          </a:xfrm>
          <a:prstGeom prst="roundRect">
            <a:avLst>
              <a:gd name="adj" fmla="val 602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C98A2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174236" y="1920240"/>
            <a:ext cx="585216" cy="585216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540" y="2066544"/>
            <a:ext cx="292608" cy="29260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799332" y="2606040"/>
            <a:ext cx="1335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5335524" y="1691640"/>
            <a:ext cx="1517904" cy="1783080"/>
          </a:xfrm>
          <a:prstGeom prst="roundRect">
            <a:avLst>
              <a:gd name="adj" fmla="val 602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C98A2B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801868" y="1920240"/>
            <a:ext cx="585216" cy="585216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8172" y="2066544"/>
            <a:ext cx="292608" cy="29260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426964" y="2606040"/>
            <a:ext cx="1335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6963156" y="1691640"/>
            <a:ext cx="1517904" cy="1783080"/>
          </a:xfrm>
          <a:prstGeom prst="roundRect">
            <a:avLst>
              <a:gd name="adj" fmla="val 602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C98A2B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7429500" y="1920240"/>
            <a:ext cx="585216" cy="585216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75804" y="2066544"/>
            <a:ext cx="292608" cy="29260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054596" y="2606040"/>
            <a:ext cx="1335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8590788" y="1691640"/>
            <a:ext cx="1517904" cy="1783080"/>
          </a:xfrm>
          <a:prstGeom prst="roundRect">
            <a:avLst>
              <a:gd name="adj" fmla="val 602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C98A2B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9057132" y="1920240"/>
            <a:ext cx="585216" cy="585216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2066544"/>
            <a:ext cx="292608" cy="292608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8682228" y="2606040"/>
            <a:ext cx="1335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Design</a:t>
            </a:r>
            <a:endParaRPr lang="en-US" sz="1150" dirty="0"/>
          </a:p>
        </p:txBody>
      </p:sp>
      <p:sp>
        <p:nvSpPr>
          <p:cNvPr id="29" name="Shape 21"/>
          <p:cNvSpPr/>
          <p:nvPr/>
        </p:nvSpPr>
        <p:spPr>
          <a:xfrm>
            <a:off x="10218420" y="1691640"/>
            <a:ext cx="1517904" cy="1783080"/>
          </a:xfrm>
          <a:prstGeom prst="roundRect">
            <a:avLst>
              <a:gd name="adj" fmla="val 602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C98A2B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10684764" y="1920240"/>
            <a:ext cx="585216" cy="585216"/>
          </a:xfrm>
          <a:prstGeom prst="ellipse">
            <a:avLst/>
          </a:prstGeom>
          <a:solidFill>
            <a:srgbClr val="C98A2B"/>
          </a:solidFill>
          <a:ln/>
        </p:spPr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31068" y="2066544"/>
            <a:ext cx="292608" cy="292608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10309860" y="2606040"/>
            <a:ext cx="1335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Insights</a:t>
            </a:r>
            <a:endParaRPr lang="en-US" sz="1150" dirty="0"/>
          </a:p>
        </p:txBody>
      </p:sp>
      <p:sp>
        <p:nvSpPr>
          <p:cNvPr id="33" name="Shape 24"/>
          <p:cNvSpPr/>
          <p:nvPr/>
        </p:nvSpPr>
        <p:spPr>
          <a:xfrm>
            <a:off x="4114800" y="4160520"/>
            <a:ext cx="3931920" cy="0"/>
          </a:xfrm>
          <a:prstGeom prst="line">
            <a:avLst/>
          </a:prstGeom>
          <a:noFill/>
          <a:ln w="12700">
            <a:solidFill>
              <a:srgbClr val="C98A2B"/>
            </a:solidFill>
            <a:prstDash val="solid"/>
          </a:ln>
        </p:spPr>
      </p:sp>
      <p:sp>
        <p:nvSpPr>
          <p:cNvPr id="34" name="Text 25"/>
          <p:cNvSpPr/>
          <p:nvPr/>
        </p:nvSpPr>
        <p:spPr>
          <a:xfrm>
            <a:off x="0" y="443484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Pratik Keni</a:t>
            </a:r>
            <a:endParaRPr lang="en-US" sz="2400" dirty="0"/>
          </a:p>
        </p:txBody>
      </p:sp>
      <p:sp>
        <p:nvSpPr>
          <p:cNvPr id="35" name="Text 26"/>
          <p:cNvSpPr/>
          <p:nvPr/>
        </p:nvSpPr>
        <p:spPr>
          <a:xfrm>
            <a:off x="0" y="48920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8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Aspiring Business Analyst  |  Sales &amp; Operations Background  |  Mumbai</a:t>
            </a:r>
            <a:endParaRPr lang="en-US" sz="1400" dirty="0"/>
          </a:p>
        </p:txBody>
      </p:sp>
      <p:sp>
        <p:nvSpPr>
          <p:cNvPr id="36" name="Text 27"/>
          <p:cNvSpPr/>
          <p:nvPr/>
        </p:nvSpPr>
        <p:spPr>
          <a:xfrm>
            <a:off x="0" y="54864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C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37" name="Text 28"/>
          <p:cNvSpPr/>
          <p:nvPr/>
        </p:nvSpPr>
        <p:spPr>
          <a:xfrm>
            <a:off x="11548872" y="3200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568</TotalTime>
  <Words>1100</Words>
  <Application>Microsoft Office PowerPoint</Application>
  <PresentationFormat>Widescreen</PresentationFormat>
  <Paragraphs>256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Aptos</vt:lpstr>
      <vt:lpstr>Arial</vt:lpstr>
      <vt:lpstr>Calibri</vt:lpstr>
      <vt:lpstr>Cambria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Rahul Pharma - Government Tender Analytics Dashboard</dc:title>
  <dc:subject>PptxGenJS Presentation</dc:subject>
  <dc:creator>Pratik Keni</dc:creator>
  <cp:lastModifiedBy>Pratik Keni</cp:lastModifiedBy>
  <cp:revision>5</cp:revision>
  <dcterms:created xsi:type="dcterms:W3CDTF">2026-06-20T03:57:49Z</dcterms:created>
  <dcterms:modified xsi:type="dcterms:W3CDTF">2026-06-22T09:33:09Z</dcterms:modified>
</cp:coreProperties>
</file>